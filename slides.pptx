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6B80"/>
                </a:solidFill>
                <a:latin typeface="+mn-lt"/>
              </a:defRPr>
            </a:pPr>
            <a:r>
              <a:rPr sz="1200" b="0" i="0" u="none" strike="noStrike">
                <a:solidFill>
                  <a:srgbClr val="6B6B80"/>
                </a:solidFill>
                <a:latin typeface="+mn-lt"/>
              </a:rPr>
              <a:t>Share of the table not rebuilt, by number of patterns (k)</a:t>
            </a:r>
          </a:p>
        </c:rich>
      </c:tx>
      <c:layout/>
      <c:overlay val="0"/>
    </c:title>
    <c:autoTitleDeleted val="0"/>
    <c:plotArea>
      <c:layout/>
      <c:lineChart>
        <c:varyColors val="0"/>
        <c:ser>
          <c:idx val="0"/>
          <c:order val="0"/>
          <c:tx>
            <c:strRef>
              <c:f>Sheet1!$B$1</c:f>
              <c:strCache>
                <c:ptCount val="1"/>
                <c:pt idx="0">
                  <c:v>Share of table not rebuilt</c:v>
                </c:pt>
              </c:strCache>
            </c:strRef>
          </c:tx>
          <c:spPr>
            <a:solidFill>
              <a:srgbClr val="E8574A"/>
            </a:solidFill>
            <a:ln w="38100" cap="flat">
              <a:solidFill>
                <a:srgbClr val="E8574A"/>
              </a:solidFill>
              <a:prstDash val="solid"/>
              <a:round/>
            </a:ln>
            <a:effectLst/>
          </c:spPr>
          <c:invertIfNegative val="0"/>
          <c:dLbls>
            <c:numFmt formatCode="0.00" sourceLinked="0"/>
            <c:txPr>
              <a:bodyPr/>
              <a:lstStyle/>
              <a:p>
                <a:pPr>
                  <a:defRPr b="0" i="0" strike="noStrike" sz="1100" u="none">
                    <a:solidFill>
                      <a:srgbClr val="1F1B2E"/>
                    </a:solidFill>
                    <a:latin typeface="+mn-lt"/>
                  </a:defRPr>
                </a:pPr>
              </a:p>
            </c:txPr>
            <c:dLblPos val="t"/>
            <c:showLegendKey val="0"/>
            <c:showVal val="1"/>
            <c:showCatName val="0"/>
            <c:showSerName val="0"/>
            <c:showPercent val="0"/>
            <c:showBubbleSize val="0"/>
            <c:showLeaderLines val="0"/>
          </c:dLbls>
          <c:marker>
            <c:symbol val="circle"/>
            <c:size val="9"/>
            <c:spPr>
              <a:solidFill>
                <a:srgbClr val="E8574A"/>
              </a:solidFill>
              <a:ln w="9525" cap="flat">
                <a:solidFill>
                  <a:srgbClr val="E8574A"/>
                </a:solidFill>
                <a:prstDash val="solid"/>
                <a:round/>
              </a:ln>
              <a:effectLst/>
            </c:spPr>
          </c:marker>
          <c:cat>
            <c:multiLvlStrRef>
              <c:f>Sheet1!$A$2:$A$6</c:f>
              <c:multiLvlStrCache>
                <c:ptCount val="5"/>
                <c:lvl>
                  <c:pt idx="0">
                    <c:v>10</c:v>
                  </c:pt>
                  <c:pt idx="1">
                    <c:v>20</c:v>
                  </c:pt>
                  <c:pt idx="2">
                    <c:v>50</c:v>
                  </c:pt>
                  <c:pt idx="3">
                    <c:v>100</c:v>
                  </c:pt>
                  <c:pt idx="4">
                    <c:v>200</c:v>
                  </c:pt>
                </c:lvl>
              </c:multiLvlStrCache>
            </c:multiLvlStrRef>
          </c:cat>
          <c:val>
            <c:numRef>
              <c:f>Sheet1!$B$2:$B$6</c:f>
              <c:numCache>
                <c:formatCode>General</c:formatCode>
                <c:ptCount val="5"/>
                <c:pt idx="0">
                  <c:v>0.8761</c:v>
                </c:pt>
                <c:pt idx="1">
                  <c:v>0.8459</c:v>
                </c:pt>
                <c:pt idx="2">
                  <c:v>0.7897</c:v>
                </c:pt>
                <c:pt idx="3">
                  <c:v>0.7278</c:v>
                </c:pt>
                <c:pt idx="4">
                  <c:v>0.6395</c:v>
                </c:pt>
              </c:numCache>
            </c:numRef>
          </c:val>
          <c:smooth val="0"/>
        </c:ser>
        <c:dLbls>
          <c:numFmt formatCode="0.00" sourceLinked="0"/>
          <c:txPr>
            <a:bodyPr/>
            <a:lstStyle/>
            <a:p>
              <a:pPr>
                <a:defRPr b="0" i="0" strike="noStrike" sz="1100" u="none">
                  <a:solidFill>
                    <a:srgbClr val="1F1B2E"/>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6B80"/>
                    </a:solidFill>
                    <a:latin typeface="+mn-lt"/>
                  </a:defRPr>
                </a:pPr>
                <a:r>
                  <a:rPr sz="1100" b="0" i="0" u="none" strike="noStrike">
                    <a:solidFill>
                      <a:srgbClr val="6B6B80"/>
                    </a:solidFill>
                    <a:latin typeface="+mn-lt"/>
                  </a:rPr>
                  <a:t>k (number of patterns)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8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4DC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6B80"/>
                </a:solidFill>
                <a:latin typeface="+mn-lt"/>
              </a:defRPr>
            </a:pPr>
            <a:r>
              <a:rPr sz="1200" b="0" i="0" u="none" strike="noStrike">
                <a:solidFill>
                  <a:srgbClr val="6B6B80"/>
                </a:solidFill>
                <a:latin typeface="+mn-lt"/>
              </a:rPr>
              <a:t>Hit rate at 10 on purchases the model never saw</a:t>
            </a:r>
          </a:p>
        </c:rich>
      </c:tx>
      <c:layout/>
      <c:overlay val="0"/>
    </c:title>
    <c:autoTitleDeleted val="0"/>
    <c:plotArea>
      <c:layout/>
      <c:barChart>
        <c:barDir val="col"/>
        <c:grouping val="clustered"/>
        <c:varyColors val="0"/>
        <c:ser>
          <c:idx val="0"/>
          <c:order val="0"/>
          <c:tx>
            <c:strRef>
              <c:f>Sheet1!$B$1</c:f>
              <c:strCache>
                <c:ptCount val="1"/>
                <c:pt idx="0">
                  <c:v>Hit rate at 10</c:v>
                </c:pt>
              </c:strCache>
            </c:strRef>
          </c:tx>
          <c:spPr>
            <a:solidFill>
              <a:srgbClr val="E8574A"/>
            </a:solidFill>
            <a:effectLst/>
          </c:spPr>
          <c:invertIfNegative val="0"/>
          <c:dLbls>
            <c:numFmt formatCode="0.0000" sourceLinked="0"/>
            <c:txPr>
              <a:bodyPr/>
              <a:lstStyle/>
              <a:p>
                <a:pPr>
                  <a:defRPr b="0" i="0" strike="noStrike" sz="1200" u="none">
                    <a:solidFill>
                      <a:srgbClr val="1F1B2E"/>
                    </a:solidFill>
                    <a:latin typeface="+mn-lt"/>
                  </a:defRPr>
                </a:pPr>
              </a:p>
            </c:txPr>
            <c:showLegendKey val="0"/>
            <c:showVal val="1"/>
            <c:showCatName val="0"/>
            <c:showSerName val="0"/>
            <c:showPercent val="0"/>
            <c:showBubbleSize val="0"/>
            <c:showLeaderLines val="0"/>
          </c:dLbls>
          <c:dPt>
            <c:idx val="0"/>
            <c:invertIfNegative val="0"/>
            <c:bubble3D val="0"/>
            <c:spPr>
              <a:solidFill>
                <a:srgbClr val="E8574A"/>
              </a:solidFill>
              <a:effectLst/>
            </c:spPr>
          </c:dPt>
          <c:dPt>
            <c:idx val="1"/>
            <c:invertIfNegative val="0"/>
            <c:bubble3D val="0"/>
            <c:spPr>
              <a:solidFill>
                <a:srgbClr val="8A7FA0"/>
              </a:solidFill>
              <a:effectLst/>
            </c:spPr>
          </c:dPt>
          <c:dPt>
            <c:idx val="2"/>
            <c:invertIfNegative val="0"/>
            <c:bubble3D val="0"/>
            <c:spPr>
              <a:solidFill>
                <a:srgbClr val="1B998B"/>
              </a:solidFill>
              <a:effectLst/>
            </c:spPr>
          </c:dPt>
          <c:cat>
            <c:multiLvlStrRef>
              <c:f>Sheet1!$A$2:$A$4</c:f>
              <c:multiLvlStrCache>
                <c:ptCount val="3"/>
                <c:lvl>
                  <c:pt idx="0">
                    <c:v>Best sellers</c:v>
                  </c:pt>
                  <c:pt idx="1">
                    <c:v>PCA</c:v>
                  </c:pt>
                  <c:pt idx="2">
                    <c:v>Truncated SVD</c:v>
                  </c:pt>
                </c:lvl>
              </c:multiLvlStrCache>
            </c:multiLvlStrRef>
          </c:cat>
          <c:val>
            <c:numRef>
              <c:f>Sheet1!$B$2:$B$4</c:f>
              <c:numCache>
                <c:formatCode>General</c:formatCode>
                <c:ptCount val="3"/>
                <c:pt idx="0">
                  <c:v>0.2687</c:v>
                </c:pt>
                <c:pt idx="1">
                  <c:v>0.218</c:v>
                </c:pt>
                <c:pt idx="2">
                  <c:v>0.2148</c:v>
                </c:pt>
              </c:numCache>
            </c:numRef>
          </c:val>
        </c:ser>
        <c:dLbls>
          <c:numFmt formatCode="0.0000" sourceLinked="0"/>
          <c:txPr>
            <a:bodyPr/>
            <a:lstStyle/>
            <a:p>
              <a:pPr>
                <a:defRPr b="0" i="0" strike="noStrike" sz="1200" u="none">
                  <a:solidFill>
                    <a:srgbClr val="1F1B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1B2E"/>
                </a:solidFill>
                <a:latin typeface="+mn-lt"/>
              </a:defRPr>
            </a:pPr>
            <a:endParaRPr lang="en-US"/>
          </a:p>
        </c:txPr>
        <c:crossAx val="2094734552"/>
        <c:crosses val="autoZero"/>
        <c:auto val="1"/>
        <c:lblAlgn val="ctr"/>
        <c:noMultiLvlLbl val="1"/>
      </c:catAx>
      <c:valAx>
        <c:axId val="2094734552"/>
        <c:scaling>
          <c:orientation val="minMax"/>
          <c:max val="0.35"/>
          <c:min val="0"/>
        </c:scaling>
        <c:delete val="0"/>
        <c:axPos val="l"/>
        <c:majorGridlines>
          <c:spPr>
            <a:ln w="9525" cap="flat">
              <a:solidFill>
                <a:srgbClr val="E4DC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Sarah asked for two things: a 'customers who bought this also bought' box that runs nightly and beats best sellers, and a customer map marketing can name. I'll give the short answer first, then how we got there. About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Sarah's targets are met: the data is much smaller and the job is fast, about 2.4 seconds on my laptop. The third, beating best sellers, is not met: about 21 in 100 customers got a correct suggestion from our model, about 27 in 100 from best sellers. I will say that plainly, and the advice follows from it. One caveat on 'smaller': the stored factors are 14.7 MB, but our scoring step still builds big temporary tables, so batching is a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cleaned out cancellations, returns, zero prices, postage and fee codes and lines without a customer. Then we split by time: the last two months are the test, and we hid the purchases where a customer bought something new to them. No test data touches the model. The table has one row per customer and one column per product, and almost every cell is empty. Products with fewer than 10 buyers were dropped, which is 19% of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SVD boils the table down to 200 shopping patterns. Each product gets a short fingerprint, and two products with similar fingerprints are bought by the same customers. I chose it because the table is almost empty and SVD works on it directly. PCA subtracts the average customer first, so it answers a different question. I still ran PCA at the same size as a check: it scored almost the same. In both methods the first component is mostly overall buying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Compression always loses something. At 200 patterns, about 64% of the training table is not rebuilt. The error falls steadily with no sharp elbow, so I took the lowest of the five and fixed k = 200 before any test scoring. Important: this number is about how well we copy past buying. It is not a measure of how good the suggestions are, so we tested the suggestions directly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hid the last two months of new purchases and asked: does at least one of our 10 suggestions match something the customer really bought? Best sellers: 0.2687, so about 27 in 100 customers. Our SVD model: 0.2148, about 21 in 100. PCA: 0.2180, practically the same as SVD. So both methods lose. I did not change k after seeing this, because that would leak the test set into the choice. A likely, untested reason: best sellers are bought by many people, while suggestions from one customer's history lean to niche items. One split and one run, so this is a measurement, not a proven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customer, placed using two components. The horizontal direction is overall buying volume, so the groups are mostly volume tiers: occasional small buyers, regular core buyers who lean to retro-spot cake cases and lunch bags, and 13 very large accounts. The 13-account group is a limit of using only two components, not a finding about taste. I did not call anyone wholesale because the data does not show who is. There are no customer IDs in the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risks, each with its base: new customers with no history are about 22% of new purchases, so show them best sellers. 19% of products had too few buyers to recommend. Variants of one product can crowd a list. And this is one split and one run. Next steps: pick k properly with a validation slice, try a blend of best sellers and personal suggestions, batch the scoring to cut memory, and show best sellers to new customers. Ready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E1A4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indent="0" marL="0">
              <a:buNone/>
              <a:defRPr lang="en-US" sz="3200" b="1" dirty="0">
                <a:solidFill>
                  <a:srgbClr val="2E1A47"/>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large circle"/>
          <p:cNvSpPr/>
          <p:nvPr/>
        </p:nvSpPr>
        <p:spPr>
          <a:xfrm>
            <a:off x="6675120" y="548640"/>
            <a:ext cx="2011680" cy="2011680"/>
          </a:xfrm>
          <a:prstGeom prst="ellipse">
            <a:avLst/>
          </a:prstGeom>
          <a:solidFill>
            <a:schemeClr val="accent1"/>
          </a:solidFill>
          <a:ln w="12700">
            <a:solidFill>
              <a:schemeClr val="accent1"/>
            </a:solidFill>
            <a:prstDash val="solid"/>
          </a:ln>
        </p:spPr>
      </p:sp>
      <p:sp>
        <p:nvSpPr>
          <p:cNvPr id="3" name="Motif small circle"/>
          <p:cNvSpPr/>
          <p:nvPr/>
        </p:nvSpPr>
        <p:spPr>
          <a:xfrm>
            <a:off x="6035040" y="2194560"/>
            <a:ext cx="1097280" cy="1097280"/>
          </a:xfrm>
          <a:prstGeom prst="ellipse">
            <a:avLst/>
          </a:prstGeom>
          <a:solidFill>
            <a:schemeClr val="accent2"/>
          </a:solidFill>
          <a:ln w="12700">
            <a:solidFill>
              <a:schemeClr val="accent2"/>
            </a:solidFill>
            <a:prstDash val="solid"/>
          </a:ln>
        </p:spPr>
      </p:sp>
      <p:sp>
        <p:nvSpPr>
          <p:cNvPr id="4" name="Title"/>
          <p:cNvSpPr txBox="1"/>
          <p:nvPr/>
        </p:nvSpPr>
        <p:spPr>
          <a:xfrm>
            <a:off x="548640" y="1371600"/>
            <a:ext cx="566928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Customers Like You</a:t>
            </a:r>
            <a:endParaRPr lang="en-US" sz="4400" dirty="0"/>
          </a:p>
        </p:txBody>
      </p:sp>
      <p:sp>
        <p:nvSpPr>
          <p:cNvPr id="5" name="Subtitle"/>
          <p:cNvSpPr txBox="1"/>
          <p:nvPr/>
        </p:nvSpPr>
        <p:spPr>
          <a:xfrm>
            <a:off x="548640" y="2377440"/>
            <a:ext cx="5303520" cy="822960"/>
          </a:xfrm>
          <a:prstGeom prst="rect">
            <a:avLst/>
          </a:prstGeom>
          <a:noFill/>
          <a:ln/>
        </p:spPr>
        <p:txBody>
          <a:bodyPr wrap="square" lIns="0" tIns="0" rIns="0" bIns="0" rtlCol="0" anchor="ctr"/>
          <a:lstStyle/>
          <a:p>
            <a:pPr indent="0" marL="0">
              <a:buNone/>
            </a:pPr>
            <a:r>
              <a:rPr lang="en-US" sz="1800" dirty="0">
                <a:solidFill>
                  <a:srgbClr val="E4DCF0"/>
                </a:solidFill>
              </a:rPr>
              <a:t>A small, fast "also bought" engine for GiftLane, and a map of our customers</a:t>
            </a:r>
            <a:endParaRPr lang="en-US" sz="1800" dirty="0"/>
          </a:p>
        </p:txBody>
      </p:sp>
      <p:sp>
        <p:nvSpPr>
          <p:cNvPr id="6" name="Presenter"/>
          <p:cNvSpPr txBox="1"/>
          <p:nvPr/>
        </p:nvSpPr>
        <p:spPr>
          <a:xfrm>
            <a:off x="548640" y="4206240"/>
            <a:ext cx="7315200" cy="365760"/>
          </a:xfrm>
          <a:prstGeom prst="rect">
            <a:avLst/>
          </a:prstGeom>
          <a:noFill/>
          <a:ln/>
        </p:spPr>
        <p:txBody>
          <a:bodyPr wrap="square" lIns="0" tIns="0" rIns="0" bIns="0" rtlCol="0" anchor="ctr"/>
          <a:lstStyle/>
          <a:p>
            <a:pPr indent="0" marL="0">
              <a:buNone/>
            </a:pPr>
            <a:r>
              <a:rPr lang="en-US" sz="1400" dirty="0">
                <a:solidFill>
                  <a:srgbClr val="C9BEDD"/>
                </a:solidFill>
              </a:rPr>
              <a:t>Jagadeesh Aravind Kalyan Shetti  |  Data &amp; ML Team  |  13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2E1A47"/>
                </a:solidFill>
              </a:rPr>
              <a:t>Small and fast, but not yet better</a:t>
            </a:r>
            <a:endParaRPr lang="en-US" sz="3200" dirty="0"/>
          </a:p>
        </p:txBody>
      </p:sp>
      <p:sp>
        <p:nvSpPr>
          <p:cNvPr id="3" name="Stat card 1"/>
          <p:cNvSpPr/>
          <p:nvPr/>
        </p:nvSpPr>
        <p:spPr>
          <a:xfrm>
            <a:off x="457200" y="1325880"/>
            <a:ext cx="2560320" cy="2331720"/>
          </a:xfrm>
          <a:prstGeom prst="roundRect">
            <a:avLst>
              <a:gd name="adj" fmla="val 4706"/>
            </a:avLst>
          </a:prstGeom>
          <a:solidFill>
            <a:schemeClr val="bg2"/>
          </a:solidFill>
          <a:ln w="12700">
            <a:solidFill>
              <a:schemeClr val="bg2"/>
            </a:solidFill>
            <a:prstDash val="solid"/>
          </a:ln>
        </p:spPr>
      </p:sp>
      <p:sp>
        <p:nvSpPr>
          <p:cNvPr id="4" name="Stat 1"/>
          <p:cNvSpPr txBox="1"/>
          <p:nvPr/>
        </p:nvSpPr>
        <p:spPr>
          <a:xfrm>
            <a:off x="594360" y="1463040"/>
            <a:ext cx="2286000" cy="822960"/>
          </a:xfrm>
          <a:prstGeom prst="rect">
            <a:avLst/>
          </a:prstGeom>
          <a:noFill/>
          <a:ln/>
        </p:spPr>
        <p:txBody>
          <a:bodyPr wrap="square" lIns="0" tIns="0" rIns="0" bIns="0" rtlCol="0" anchor="ctr"/>
          <a:lstStyle/>
          <a:p>
            <a:pPr indent="0" marL="0">
              <a:buNone/>
            </a:pPr>
            <a:r>
              <a:rPr lang="en-US" sz="3000" b="1" dirty="0">
                <a:solidFill>
                  <a:srgbClr val="1B998B"/>
                </a:solidFill>
                <a:latin typeface="Cambria" pitchFamily="34" charset="0"/>
                <a:ea typeface="Cambria" pitchFamily="34" charset="-122"/>
                <a:cs typeface="Cambria" pitchFamily="34" charset="-120"/>
              </a:rPr>
              <a:t>2.4 s</a:t>
            </a:r>
            <a:endParaRPr lang="en-US" sz="3000" dirty="0"/>
          </a:p>
        </p:txBody>
      </p:sp>
      <p:sp>
        <p:nvSpPr>
          <p:cNvPr id="5" name="Stat label 1"/>
          <p:cNvSpPr txBox="1"/>
          <p:nvPr/>
        </p:nvSpPr>
        <p:spPr>
          <a:xfrm>
            <a:off x="594360" y="2331720"/>
            <a:ext cx="2286000" cy="1188720"/>
          </a:xfrm>
          <a:prstGeom prst="rect">
            <a:avLst/>
          </a:prstGeom>
          <a:noFill/>
          <a:ln/>
        </p:spPr>
        <p:txBody>
          <a:bodyPr wrap="square" lIns="0" tIns="0" rIns="0" bIns="0" rtlCol="0" anchor="t"/>
          <a:lstStyle/>
          <a:p>
            <a:pPr indent="0" marL="0">
              <a:buNone/>
            </a:pPr>
            <a:r>
              <a:rPr lang="en-US" sz="1400" dirty="0">
                <a:solidFill>
                  <a:srgbClr val="1F1B2E"/>
                </a:solidFill>
              </a:rPr>
              <a:t>whole nightly job: refit, box for every product, top 10 for every customer</a:t>
            </a:r>
            <a:endParaRPr lang="en-US" sz="1400" dirty="0"/>
          </a:p>
        </p:txBody>
      </p:sp>
      <p:sp>
        <p:nvSpPr>
          <p:cNvPr id="6" name="Stat card 2"/>
          <p:cNvSpPr/>
          <p:nvPr/>
        </p:nvSpPr>
        <p:spPr>
          <a:xfrm>
            <a:off x="3291840" y="1325880"/>
            <a:ext cx="2560320" cy="2331720"/>
          </a:xfrm>
          <a:prstGeom prst="roundRect">
            <a:avLst>
              <a:gd name="adj" fmla="val 4706"/>
            </a:avLst>
          </a:prstGeom>
          <a:solidFill>
            <a:schemeClr val="bg2"/>
          </a:solidFill>
          <a:ln w="12700">
            <a:solidFill>
              <a:schemeClr val="bg2"/>
            </a:solidFill>
            <a:prstDash val="solid"/>
          </a:ln>
        </p:spPr>
      </p:sp>
      <p:sp>
        <p:nvSpPr>
          <p:cNvPr id="7" name="Stat 2"/>
          <p:cNvSpPr txBox="1"/>
          <p:nvPr/>
        </p:nvSpPr>
        <p:spPr>
          <a:xfrm>
            <a:off x="3429000" y="1463040"/>
            <a:ext cx="2286000" cy="822960"/>
          </a:xfrm>
          <a:prstGeom prst="rect">
            <a:avLst/>
          </a:prstGeom>
          <a:noFill/>
          <a:ln/>
        </p:spPr>
        <p:txBody>
          <a:bodyPr wrap="square" lIns="0" tIns="0" rIns="0" bIns="0" rtlCol="0" anchor="ctr"/>
          <a:lstStyle/>
          <a:p>
            <a:pPr indent="0" marL="0">
              <a:buNone/>
            </a:pPr>
            <a:r>
              <a:rPr lang="en-US" sz="3000" b="1" dirty="0">
                <a:solidFill>
                  <a:srgbClr val="1B998B"/>
                </a:solidFill>
                <a:latin typeface="Cambria" pitchFamily="34" charset="0"/>
                <a:ea typeface="Cambria" pitchFamily="34" charset="-122"/>
                <a:cs typeface="Cambria" pitchFamily="34" charset="-120"/>
              </a:rPr>
              <a:t>11x smaller</a:t>
            </a:r>
            <a:endParaRPr lang="en-US" sz="3000" dirty="0"/>
          </a:p>
        </p:txBody>
      </p:sp>
      <p:sp>
        <p:nvSpPr>
          <p:cNvPr id="8" name="Stat label 2"/>
          <p:cNvSpPr txBox="1"/>
          <p:nvPr/>
        </p:nvSpPr>
        <p:spPr>
          <a:xfrm>
            <a:off x="3429000" y="2331720"/>
            <a:ext cx="2286000" cy="1188720"/>
          </a:xfrm>
          <a:prstGeom prst="rect">
            <a:avLst/>
          </a:prstGeom>
          <a:noFill/>
          <a:ln/>
        </p:spPr>
        <p:txBody>
          <a:bodyPr wrap="square" lIns="0" tIns="0" rIns="0" bIns="0" rtlCol="0" anchor="t"/>
          <a:lstStyle/>
          <a:p>
            <a:pPr indent="0" marL="0">
              <a:buNone/>
            </a:pPr>
            <a:r>
              <a:rPr lang="en-US" sz="1400" dirty="0">
                <a:solidFill>
                  <a:srgbClr val="1F1B2E"/>
                </a:solidFill>
              </a:rPr>
              <a:t>14.7 MB of compressed data against a 161 MB full table</a:t>
            </a:r>
            <a:endParaRPr lang="en-US" sz="1400" dirty="0"/>
          </a:p>
        </p:txBody>
      </p:sp>
      <p:sp>
        <p:nvSpPr>
          <p:cNvPr id="9" name="Stat card 3"/>
          <p:cNvSpPr/>
          <p:nvPr/>
        </p:nvSpPr>
        <p:spPr>
          <a:xfrm>
            <a:off x="6126480" y="1325880"/>
            <a:ext cx="2560320" cy="2331720"/>
          </a:xfrm>
          <a:prstGeom prst="roundRect">
            <a:avLst>
              <a:gd name="adj" fmla="val 4706"/>
            </a:avLst>
          </a:prstGeom>
          <a:solidFill>
            <a:schemeClr val="bg2"/>
          </a:solidFill>
          <a:ln w="12700">
            <a:solidFill>
              <a:schemeClr val="bg2"/>
            </a:solidFill>
            <a:prstDash val="solid"/>
          </a:ln>
        </p:spPr>
      </p:sp>
      <p:sp>
        <p:nvSpPr>
          <p:cNvPr id="10" name="Stat 3"/>
          <p:cNvSpPr txBox="1"/>
          <p:nvPr/>
        </p:nvSpPr>
        <p:spPr>
          <a:xfrm>
            <a:off x="6263640" y="1463040"/>
            <a:ext cx="2286000" cy="822960"/>
          </a:xfrm>
          <a:prstGeom prst="rect">
            <a:avLst/>
          </a:prstGeom>
          <a:noFill/>
          <a:ln/>
        </p:spPr>
        <p:txBody>
          <a:bodyPr wrap="square" lIns="0" tIns="0" rIns="0" bIns="0" rtlCol="0" anchor="ctr"/>
          <a:lstStyle/>
          <a:p>
            <a:pPr indent="0" marL="0">
              <a:buNone/>
            </a:pPr>
            <a:r>
              <a:rPr lang="en-US" sz="3000" b="1" dirty="0">
                <a:solidFill>
                  <a:srgbClr val="E8574A"/>
                </a:solidFill>
                <a:latin typeface="Cambria" pitchFamily="34" charset="0"/>
                <a:ea typeface="Cambria" pitchFamily="34" charset="-122"/>
                <a:cs typeface="Cambria" pitchFamily="34" charset="-120"/>
              </a:rPr>
              <a:t>21% vs 27%</a:t>
            </a:r>
            <a:endParaRPr lang="en-US" sz="3000" dirty="0"/>
          </a:p>
        </p:txBody>
      </p:sp>
      <p:sp>
        <p:nvSpPr>
          <p:cNvPr id="11" name="Stat label 3"/>
          <p:cNvSpPr txBox="1"/>
          <p:nvPr/>
        </p:nvSpPr>
        <p:spPr>
          <a:xfrm>
            <a:off x="6263640" y="2331720"/>
            <a:ext cx="2286000" cy="1188720"/>
          </a:xfrm>
          <a:prstGeom prst="rect">
            <a:avLst/>
          </a:prstGeom>
          <a:noFill/>
          <a:ln/>
        </p:spPr>
        <p:txBody>
          <a:bodyPr wrap="square" lIns="0" tIns="0" rIns="0" bIns="0" rtlCol="0" anchor="t"/>
          <a:lstStyle/>
          <a:p>
            <a:pPr indent="0" marL="0">
              <a:buNone/>
            </a:pPr>
            <a:r>
              <a:rPr lang="en-US" sz="1400" dirty="0">
                <a:solidFill>
                  <a:srgbClr val="1F1B2E"/>
                </a:solidFill>
              </a:rPr>
              <a:t>customers with a correct suggestion: our model vs the best-seller list</a:t>
            </a:r>
            <a:endParaRPr lang="en-US" sz="1400" dirty="0"/>
          </a:p>
        </p:txBody>
      </p:sp>
      <p:sp>
        <p:nvSpPr>
          <p:cNvPr id="12" name="Advice"/>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800" b="1" dirty="0">
                <a:solidFill>
                  <a:srgbClr val="2E1A47"/>
                </a:solidFill>
              </a:rPr>
              <a:t>Our advice: keep best sellers on the product pages for now.</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2E1A47"/>
                </a:solidFill>
              </a:rPr>
              <a:t>From invoices to one table</a:t>
            </a:r>
            <a:endParaRPr lang="en-US" sz="3200" dirty="0"/>
          </a:p>
        </p:txBody>
      </p:sp>
      <p:sp>
        <p:nvSpPr>
          <p:cNvPr id="3" name="Step card 1"/>
          <p:cNvSpPr/>
          <p:nvPr/>
        </p:nvSpPr>
        <p:spPr>
          <a:xfrm>
            <a:off x="457200" y="1325880"/>
            <a:ext cx="1828800" cy="2194560"/>
          </a:xfrm>
          <a:prstGeom prst="roundRect">
            <a:avLst>
              <a:gd name="adj" fmla="val 6000"/>
            </a:avLst>
          </a:prstGeom>
          <a:solidFill>
            <a:schemeClr val="bg2"/>
          </a:solidFill>
          <a:ln w="12700">
            <a:solidFill>
              <a:schemeClr val="bg2"/>
            </a:solidFill>
            <a:prstDash val="solid"/>
          </a:ln>
        </p:spPr>
      </p:sp>
      <p:sp>
        <p:nvSpPr>
          <p:cNvPr id="4" name="Step number 1"/>
          <p:cNvSpPr/>
          <p:nvPr/>
        </p:nvSpPr>
        <p:spPr>
          <a:xfrm>
            <a:off x="594360" y="1463040"/>
            <a:ext cx="384048" cy="384048"/>
          </a:xfrm>
          <a:prstGeom prst="ellipse">
            <a:avLst/>
          </a:prstGeom>
          <a:solidFill>
            <a:schemeClr val="accent1"/>
          </a:solidFill>
          <a:ln w="12700">
            <a:solidFill>
              <a:schemeClr val="accent1"/>
            </a:solidFill>
            <a:prstDash val="solid"/>
          </a:ln>
        </p:spPr>
      </p:sp>
      <p:sp>
        <p:nvSpPr>
          <p:cNvPr id="5" name="Step digit 1"/>
          <p:cNvSpPr txBox="1"/>
          <p:nvPr/>
        </p:nvSpPr>
        <p:spPr>
          <a:xfrm>
            <a:off x="59436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Step head 1"/>
          <p:cNvSpPr txBox="1"/>
          <p:nvPr/>
        </p:nvSpPr>
        <p:spPr>
          <a:xfrm>
            <a:off x="594360" y="1920240"/>
            <a:ext cx="1600200" cy="365760"/>
          </a:xfrm>
          <a:prstGeom prst="rect">
            <a:avLst/>
          </a:prstGeom>
          <a:noFill/>
          <a:ln/>
        </p:spPr>
        <p:txBody>
          <a:bodyPr wrap="square" lIns="0" tIns="0" rIns="0" bIns="0" rtlCol="0" anchor="ctr"/>
          <a:lstStyle/>
          <a:p>
            <a:pPr indent="0" marL="0">
              <a:buNone/>
            </a:pPr>
            <a:r>
              <a:rPr lang="en-US" sz="1600" b="1" dirty="0">
                <a:solidFill>
                  <a:srgbClr val="2E1A47"/>
                </a:solidFill>
              </a:rPr>
              <a:t>Clean</a:t>
            </a:r>
            <a:endParaRPr lang="en-US" sz="1600" dirty="0"/>
          </a:p>
        </p:txBody>
      </p:sp>
      <p:sp>
        <p:nvSpPr>
          <p:cNvPr id="7" name="Step number text 1"/>
          <p:cNvSpPr txBox="1"/>
          <p:nvPr/>
        </p:nvSpPr>
        <p:spPr>
          <a:xfrm>
            <a:off x="594360" y="2286000"/>
            <a:ext cx="1600200" cy="457200"/>
          </a:xfrm>
          <a:prstGeom prst="rect">
            <a:avLst/>
          </a:prstGeom>
          <a:noFill/>
          <a:ln/>
        </p:spPr>
        <p:txBody>
          <a:bodyPr wrap="square" lIns="0" tIns="0" rIns="0" bIns="0" rtlCol="0" anchor="ctr"/>
          <a:lstStyle/>
          <a:p>
            <a:pPr indent="0" marL="0">
              <a:buNone/>
            </a:pPr>
            <a:r>
              <a:rPr lang="en-US" sz="2200" b="1" dirty="0">
                <a:solidFill>
                  <a:srgbClr val="1B998B"/>
                </a:solidFill>
                <a:latin typeface="Cambria" pitchFamily="34" charset="0"/>
                <a:ea typeface="Cambria" pitchFamily="34" charset="-122"/>
                <a:cs typeface="Cambria" pitchFamily="34" charset="-120"/>
              </a:rPr>
              <a:t>802,632</a:t>
            </a:r>
            <a:endParaRPr lang="en-US" sz="2200" dirty="0"/>
          </a:p>
        </p:txBody>
      </p:sp>
      <p:sp>
        <p:nvSpPr>
          <p:cNvPr id="8" name="Step line 1"/>
          <p:cNvSpPr txBox="1"/>
          <p:nvPr/>
        </p:nvSpPr>
        <p:spPr>
          <a:xfrm>
            <a:off x="594360" y="2743200"/>
            <a:ext cx="1600200" cy="777240"/>
          </a:xfrm>
          <a:prstGeom prst="rect">
            <a:avLst/>
          </a:prstGeom>
          <a:noFill/>
          <a:ln/>
        </p:spPr>
        <p:txBody>
          <a:bodyPr wrap="square" lIns="0" tIns="0" rIns="0" bIns="0" rtlCol="0" anchor="t"/>
          <a:lstStyle/>
          <a:p>
            <a:pPr indent="0" marL="0">
              <a:buNone/>
            </a:pPr>
            <a:r>
              <a:rPr lang="en-US" sz="1200" dirty="0">
                <a:solidFill>
                  <a:srgbClr val="1F1B2E"/>
                </a:solidFill>
              </a:rPr>
              <a:t>invoice lines kept from 1,067,371</a:t>
            </a:r>
            <a:endParaRPr lang="en-US" sz="1200" dirty="0"/>
          </a:p>
        </p:txBody>
      </p:sp>
      <p:sp>
        <p:nvSpPr>
          <p:cNvPr id="9" name="Arrow 1"/>
          <p:cNvSpPr/>
          <p:nvPr/>
        </p:nvSpPr>
        <p:spPr>
          <a:xfrm>
            <a:off x="2322576" y="2331720"/>
            <a:ext cx="228600" cy="274320"/>
          </a:xfrm>
          <a:prstGeom prst="rightArrow">
            <a:avLst/>
          </a:prstGeom>
          <a:solidFill>
            <a:schemeClr val="accent4"/>
          </a:solidFill>
          <a:ln w="12700">
            <a:solidFill>
              <a:schemeClr val="accent4"/>
            </a:solidFill>
            <a:prstDash val="solid"/>
          </a:ln>
        </p:spPr>
      </p:sp>
      <p:sp>
        <p:nvSpPr>
          <p:cNvPr id="10" name="Step card 2"/>
          <p:cNvSpPr/>
          <p:nvPr/>
        </p:nvSpPr>
        <p:spPr>
          <a:xfrm>
            <a:off x="2587752" y="1325880"/>
            <a:ext cx="1828800" cy="2194560"/>
          </a:xfrm>
          <a:prstGeom prst="roundRect">
            <a:avLst>
              <a:gd name="adj" fmla="val 6000"/>
            </a:avLst>
          </a:prstGeom>
          <a:solidFill>
            <a:schemeClr val="bg2"/>
          </a:solidFill>
          <a:ln w="12700">
            <a:solidFill>
              <a:schemeClr val="bg2"/>
            </a:solidFill>
            <a:prstDash val="solid"/>
          </a:ln>
        </p:spPr>
      </p:sp>
      <p:sp>
        <p:nvSpPr>
          <p:cNvPr id="11" name="Step number 2"/>
          <p:cNvSpPr/>
          <p:nvPr/>
        </p:nvSpPr>
        <p:spPr>
          <a:xfrm>
            <a:off x="2724912" y="1463040"/>
            <a:ext cx="384048" cy="384048"/>
          </a:xfrm>
          <a:prstGeom prst="ellipse">
            <a:avLst/>
          </a:prstGeom>
          <a:solidFill>
            <a:schemeClr val="accent1"/>
          </a:solidFill>
          <a:ln w="12700">
            <a:solidFill>
              <a:schemeClr val="accent1"/>
            </a:solidFill>
            <a:prstDash val="solid"/>
          </a:ln>
        </p:spPr>
      </p:sp>
      <p:sp>
        <p:nvSpPr>
          <p:cNvPr id="12" name="Step digit 2"/>
          <p:cNvSpPr txBox="1"/>
          <p:nvPr/>
        </p:nvSpPr>
        <p:spPr>
          <a:xfrm>
            <a:off x="2724912"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Step head 2"/>
          <p:cNvSpPr txBox="1"/>
          <p:nvPr/>
        </p:nvSpPr>
        <p:spPr>
          <a:xfrm>
            <a:off x="2724912" y="1920240"/>
            <a:ext cx="1600200" cy="365760"/>
          </a:xfrm>
          <a:prstGeom prst="rect">
            <a:avLst/>
          </a:prstGeom>
          <a:noFill/>
          <a:ln/>
        </p:spPr>
        <p:txBody>
          <a:bodyPr wrap="square" lIns="0" tIns="0" rIns="0" bIns="0" rtlCol="0" anchor="ctr"/>
          <a:lstStyle/>
          <a:p>
            <a:pPr indent="0" marL="0">
              <a:buNone/>
            </a:pPr>
            <a:r>
              <a:rPr lang="en-US" sz="1600" b="1" dirty="0">
                <a:solidFill>
                  <a:srgbClr val="2E1A47"/>
                </a:solidFill>
              </a:rPr>
              <a:t>Split by time</a:t>
            </a:r>
            <a:endParaRPr lang="en-US" sz="1600" dirty="0"/>
          </a:p>
        </p:txBody>
      </p:sp>
      <p:sp>
        <p:nvSpPr>
          <p:cNvPr id="14" name="Step number text 2"/>
          <p:cNvSpPr txBox="1"/>
          <p:nvPr/>
        </p:nvSpPr>
        <p:spPr>
          <a:xfrm>
            <a:off x="2724912" y="2286000"/>
            <a:ext cx="1600200" cy="457200"/>
          </a:xfrm>
          <a:prstGeom prst="rect">
            <a:avLst/>
          </a:prstGeom>
          <a:noFill/>
          <a:ln/>
        </p:spPr>
        <p:txBody>
          <a:bodyPr wrap="square" lIns="0" tIns="0" rIns="0" bIns="0" rtlCol="0" anchor="ctr"/>
          <a:lstStyle/>
          <a:p>
            <a:pPr indent="0" marL="0">
              <a:buNone/>
            </a:pPr>
            <a:r>
              <a:rPr lang="en-US" sz="2200" b="1" dirty="0">
                <a:solidFill>
                  <a:srgbClr val="1B998B"/>
                </a:solidFill>
                <a:latin typeface="Cambria" pitchFamily="34" charset="0"/>
                <a:ea typeface="Cambria" pitchFamily="34" charset="-122"/>
                <a:cs typeface="Cambria" pitchFamily="34" charset="-120"/>
              </a:rPr>
              <a:t>2 months</a:t>
            </a:r>
            <a:endParaRPr lang="en-US" sz="2200" dirty="0"/>
          </a:p>
        </p:txBody>
      </p:sp>
      <p:sp>
        <p:nvSpPr>
          <p:cNvPr id="15" name="Step line 2"/>
          <p:cNvSpPr txBox="1"/>
          <p:nvPr/>
        </p:nvSpPr>
        <p:spPr>
          <a:xfrm>
            <a:off x="2724912" y="2743200"/>
            <a:ext cx="1600200" cy="777240"/>
          </a:xfrm>
          <a:prstGeom prst="rect">
            <a:avLst/>
          </a:prstGeom>
          <a:noFill/>
          <a:ln/>
        </p:spPr>
        <p:txBody>
          <a:bodyPr wrap="square" lIns="0" tIns="0" rIns="0" bIns="0" rtlCol="0" anchor="t"/>
          <a:lstStyle/>
          <a:p>
            <a:pPr indent="0" marL="0">
              <a:buNone/>
            </a:pPr>
            <a:r>
              <a:rPr lang="en-US" sz="1200" dirty="0">
                <a:solidFill>
                  <a:srgbClr val="1F1B2E"/>
                </a:solidFill>
              </a:rPr>
              <a:t>last two months are the test; cutoff 9 Oct 2011</a:t>
            </a:r>
            <a:endParaRPr lang="en-US" sz="1200" dirty="0"/>
          </a:p>
        </p:txBody>
      </p:sp>
      <p:sp>
        <p:nvSpPr>
          <p:cNvPr id="16" name="Arrow 2"/>
          <p:cNvSpPr/>
          <p:nvPr/>
        </p:nvSpPr>
        <p:spPr>
          <a:xfrm>
            <a:off x="4453128" y="2331720"/>
            <a:ext cx="228600" cy="274320"/>
          </a:xfrm>
          <a:prstGeom prst="rightArrow">
            <a:avLst/>
          </a:prstGeom>
          <a:solidFill>
            <a:schemeClr val="accent4"/>
          </a:solidFill>
          <a:ln w="12700">
            <a:solidFill>
              <a:schemeClr val="accent4"/>
            </a:solidFill>
            <a:prstDash val="solid"/>
          </a:ln>
        </p:spPr>
      </p:sp>
      <p:sp>
        <p:nvSpPr>
          <p:cNvPr id="17" name="Step card 3"/>
          <p:cNvSpPr/>
          <p:nvPr/>
        </p:nvSpPr>
        <p:spPr>
          <a:xfrm>
            <a:off x="4718304" y="1325880"/>
            <a:ext cx="1828800" cy="2194560"/>
          </a:xfrm>
          <a:prstGeom prst="roundRect">
            <a:avLst>
              <a:gd name="adj" fmla="val 6000"/>
            </a:avLst>
          </a:prstGeom>
          <a:solidFill>
            <a:schemeClr val="bg2"/>
          </a:solidFill>
          <a:ln w="12700">
            <a:solidFill>
              <a:schemeClr val="bg2"/>
            </a:solidFill>
            <a:prstDash val="solid"/>
          </a:ln>
        </p:spPr>
      </p:sp>
      <p:sp>
        <p:nvSpPr>
          <p:cNvPr id="18" name="Step number 3"/>
          <p:cNvSpPr/>
          <p:nvPr/>
        </p:nvSpPr>
        <p:spPr>
          <a:xfrm>
            <a:off x="4855464" y="1463040"/>
            <a:ext cx="384048" cy="384048"/>
          </a:xfrm>
          <a:prstGeom prst="ellipse">
            <a:avLst/>
          </a:prstGeom>
          <a:solidFill>
            <a:schemeClr val="accent1"/>
          </a:solidFill>
          <a:ln w="12700">
            <a:solidFill>
              <a:schemeClr val="accent1"/>
            </a:solidFill>
            <a:prstDash val="solid"/>
          </a:ln>
        </p:spPr>
      </p:sp>
      <p:sp>
        <p:nvSpPr>
          <p:cNvPr id="19" name="Step digit 3"/>
          <p:cNvSpPr txBox="1"/>
          <p:nvPr/>
        </p:nvSpPr>
        <p:spPr>
          <a:xfrm>
            <a:off x="4855464"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0" name="Step head 3"/>
          <p:cNvSpPr txBox="1"/>
          <p:nvPr/>
        </p:nvSpPr>
        <p:spPr>
          <a:xfrm>
            <a:off x="4855464" y="1920240"/>
            <a:ext cx="1600200" cy="365760"/>
          </a:xfrm>
          <a:prstGeom prst="rect">
            <a:avLst/>
          </a:prstGeom>
          <a:noFill/>
          <a:ln/>
        </p:spPr>
        <p:txBody>
          <a:bodyPr wrap="square" lIns="0" tIns="0" rIns="0" bIns="0" rtlCol="0" anchor="ctr"/>
          <a:lstStyle/>
          <a:p>
            <a:pPr indent="0" marL="0">
              <a:buNone/>
            </a:pPr>
            <a:r>
              <a:rPr lang="en-US" sz="1600" b="1" dirty="0">
                <a:solidFill>
                  <a:srgbClr val="2E1A47"/>
                </a:solidFill>
              </a:rPr>
              <a:t>Hide new buys</a:t>
            </a:r>
            <a:endParaRPr lang="en-US" sz="1600" dirty="0"/>
          </a:p>
        </p:txBody>
      </p:sp>
      <p:sp>
        <p:nvSpPr>
          <p:cNvPr id="21" name="Step number text 3"/>
          <p:cNvSpPr txBox="1"/>
          <p:nvPr/>
        </p:nvSpPr>
        <p:spPr>
          <a:xfrm>
            <a:off x="4855464" y="2286000"/>
            <a:ext cx="1600200" cy="457200"/>
          </a:xfrm>
          <a:prstGeom prst="rect">
            <a:avLst/>
          </a:prstGeom>
          <a:noFill/>
          <a:ln/>
        </p:spPr>
        <p:txBody>
          <a:bodyPr wrap="square" lIns="0" tIns="0" rIns="0" bIns="0" rtlCol="0" anchor="ctr"/>
          <a:lstStyle/>
          <a:p>
            <a:pPr indent="0" marL="0">
              <a:buNone/>
            </a:pPr>
            <a:r>
              <a:rPr lang="en-US" sz="2200" b="1" dirty="0">
                <a:solidFill>
                  <a:srgbClr val="1B998B"/>
                </a:solidFill>
                <a:latin typeface="Cambria" pitchFamily="34" charset="0"/>
                <a:ea typeface="Cambria" pitchFamily="34" charset="-122"/>
                <a:cs typeface="Cambria" pitchFamily="34" charset="-120"/>
              </a:rPr>
              <a:t>44,727</a:t>
            </a:r>
            <a:endParaRPr lang="en-US" sz="2200" dirty="0"/>
          </a:p>
        </p:txBody>
      </p:sp>
      <p:sp>
        <p:nvSpPr>
          <p:cNvPr id="22" name="Step line 3"/>
          <p:cNvSpPr txBox="1"/>
          <p:nvPr/>
        </p:nvSpPr>
        <p:spPr>
          <a:xfrm>
            <a:off x="4855464" y="2743200"/>
            <a:ext cx="1600200" cy="777240"/>
          </a:xfrm>
          <a:prstGeom prst="rect">
            <a:avLst/>
          </a:prstGeom>
          <a:noFill/>
          <a:ln/>
        </p:spPr>
        <p:txBody>
          <a:bodyPr wrap="square" lIns="0" tIns="0" rIns="0" bIns="0" rtlCol="0" anchor="t"/>
          <a:lstStyle/>
          <a:p>
            <a:pPr indent="0" marL="0">
              <a:buNone/>
            </a:pPr>
            <a:r>
              <a:rPr lang="en-US" sz="1200" dirty="0">
                <a:solidFill>
                  <a:srgbClr val="1F1B2E"/>
                </a:solidFill>
              </a:rPr>
              <a:t>purchases of new products, from 1,913 customers</a:t>
            </a:r>
            <a:endParaRPr lang="en-US" sz="1200" dirty="0"/>
          </a:p>
        </p:txBody>
      </p:sp>
      <p:sp>
        <p:nvSpPr>
          <p:cNvPr id="23" name="Arrow 3"/>
          <p:cNvSpPr/>
          <p:nvPr/>
        </p:nvSpPr>
        <p:spPr>
          <a:xfrm>
            <a:off x="6583680" y="2331720"/>
            <a:ext cx="228600" cy="274320"/>
          </a:xfrm>
          <a:prstGeom prst="rightArrow">
            <a:avLst/>
          </a:prstGeom>
          <a:solidFill>
            <a:schemeClr val="accent4"/>
          </a:solidFill>
          <a:ln w="12700">
            <a:solidFill>
              <a:schemeClr val="accent4"/>
            </a:solidFill>
            <a:prstDash val="solid"/>
          </a:ln>
        </p:spPr>
      </p:sp>
      <p:sp>
        <p:nvSpPr>
          <p:cNvPr id="24" name="Step card 4"/>
          <p:cNvSpPr/>
          <p:nvPr/>
        </p:nvSpPr>
        <p:spPr>
          <a:xfrm>
            <a:off x="6848856" y="1325880"/>
            <a:ext cx="1828800" cy="2194560"/>
          </a:xfrm>
          <a:prstGeom prst="roundRect">
            <a:avLst>
              <a:gd name="adj" fmla="val 6000"/>
            </a:avLst>
          </a:prstGeom>
          <a:solidFill>
            <a:schemeClr val="bg2"/>
          </a:solidFill>
          <a:ln w="12700">
            <a:solidFill>
              <a:schemeClr val="bg2"/>
            </a:solidFill>
            <a:prstDash val="solid"/>
          </a:ln>
        </p:spPr>
      </p:sp>
      <p:sp>
        <p:nvSpPr>
          <p:cNvPr id="25" name="Step number 4"/>
          <p:cNvSpPr/>
          <p:nvPr/>
        </p:nvSpPr>
        <p:spPr>
          <a:xfrm>
            <a:off x="6986016" y="1463040"/>
            <a:ext cx="384048" cy="384048"/>
          </a:xfrm>
          <a:prstGeom prst="ellipse">
            <a:avLst/>
          </a:prstGeom>
          <a:solidFill>
            <a:schemeClr val="accent1"/>
          </a:solidFill>
          <a:ln w="12700">
            <a:solidFill>
              <a:schemeClr val="accent1"/>
            </a:solidFill>
            <a:prstDash val="solid"/>
          </a:ln>
        </p:spPr>
      </p:sp>
      <p:sp>
        <p:nvSpPr>
          <p:cNvPr id="26" name="Step digit 4"/>
          <p:cNvSpPr txBox="1"/>
          <p:nvPr/>
        </p:nvSpPr>
        <p:spPr>
          <a:xfrm>
            <a:off x="6986016"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7" name="Step head 4"/>
          <p:cNvSpPr txBox="1"/>
          <p:nvPr/>
        </p:nvSpPr>
        <p:spPr>
          <a:xfrm>
            <a:off x="6986016" y="1920240"/>
            <a:ext cx="1600200" cy="365760"/>
          </a:xfrm>
          <a:prstGeom prst="rect">
            <a:avLst/>
          </a:prstGeom>
          <a:noFill/>
          <a:ln/>
        </p:spPr>
        <p:txBody>
          <a:bodyPr wrap="square" lIns="0" tIns="0" rIns="0" bIns="0" rtlCol="0" anchor="ctr"/>
          <a:lstStyle/>
          <a:p>
            <a:pPr indent="0" marL="0">
              <a:buNone/>
            </a:pPr>
            <a:r>
              <a:rPr lang="en-US" sz="1600" b="1" dirty="0">
                <a:solidFill>
                  <a:srgbClr val="2E1A47"/>
                </a:solidFill>
              </a:rPr>
              <a:t>Build the table</a:t>
            </a:r>
            <a:endParaRPr lang="en-US" sz="1600" dirty="0"/>
          </a:p>
        </p:txBody>
      </p:sp>
      <p:sp>
        <p:nvSpPr>
          <p:cNvPr id="28" name="Step number text 4"/>
          <p:cNvSpPr txBox="1"/>
          <p:nvPr/>
        </p:nvSpPr>
        <p:spPr>
          <a:xfrm>
            <a:off x="6986016" y="2286000"/>
            <a:ext cx="1600200" cy="457200"/>
          </a:xfrm>
          <a:prstGeom prst="rect">
            <a:avLst/>
          </a:prstGeom>
          <a:noFill/>
          <a:ln/>
        </p:spPr>
        <p:txBody>
          <a:bodyPr wrap="square" lIns="0" tIns="0" rIns="0" bIns="0" rtlCol="0" anchor="ctr"/>
          <a:lstStyle/>
          <a:p>
            <a:pPr indent="0" marL="0">
              <a:buNone/>
            </a:pPr>
            <a:r>
              <a:rPr lang="en-US" sz="2200" b="1" dirty="0">
                <a:solidFill>
                  <a:srgbClr val="1B998B"/>
                </a:solidFill>
                <a:latin typeface="Cambria" pitchFamily="34" charset="0"/>
                <a:ea typeface="Cambria" pitchFamily="34" charset="-122"/>
                <a:cs typeface="Cambria" pitchFamily="34" charset="-120"/>
              </a:rPr>
              <a:t>97.95%</a:t>
            </a:r>
            <a:endParaRPr lang="en-US" sz="2200" dirty="0"/>
          </a:p>
        </p:txBody>
      </p:sp>
      <p:sp>
        <p:nvSpPr>
          <p:cNvPr id="29" name="Step line 4"/>
          <p:cNvSpPr txBox="1"/>
          <p:nvPr/>
        </p:nvSpPr>
        <p:spPr>
          <a:xfrm>
            <a:off x="6986016" y="2743200"/>
            <a:ext cx="1600200" cy="777240"/>
          </a:xfrm>
          <a:prstGeom prst="rect">
            <a:avLst/>
          </a:prstGeom>
          <a:noFill/>
          <a:ln/>
        </p:spPr>
        <p:txBody>
          <a:bodyPr wrap="square" lIns="0" tIns="0" rIns="0" bIns="0" rtlCol="0" anchor="t"/>
          <a:lstStyle/>
          <a:p>
            <a:pPr indent="0" marL="0">
              <a:buNone/>
            </a:pPr>
            <a:r>
              <a:rPr lang="en-US" sz="1200" dirty="0">
                <a:solidFill>
                  <a:srgbClr val="1F1B2E"/>
                </a:solidFill>
              </a:rPr>
              <a:t>empty: 5,473 customers x 3,687 products</a:t>
            </a:r>
            <a:endParaRPr lang="en-US" sz="1200" dirty="0"/>
          </a:p>
        </p:txBody>
      </p:sp>
      <p:sp>
        <p:nvSpPr>
          <p:cNvPr id="30" name="Table note"/>
          <p:cNvSpPr txBox="1"/>
          <p:nvPr/>
        </p:nvSpPr>
        <p:spPr>
          <a:xfrm>
            <a:off x="457200" y="3886200"/>
            <a:ext cx="8229600" cy="640080"/>
          </a:xfrm>
          <a:prstGeom prst="rect">
            <a:avLst/>
          </a:prstGeom>
          <a:noFill/>
          <a:ln/>
        </p:spPr>
        <p:txBody>
          <a:bodyPr wrap="square" lIns="0" tIns="0" rIns="0" bIns="0" rtlCol="0" anchor="ctr"/>
          <a:lstStyle/>
          <a:p>
            <a:pPr indent="0" marL="0">
              <a:buNone/>
            </a:pPr>
            <a:r>
              <a:rPr lang="en-US" sz="1400" dirty="0">
                <a:solidFill>
                  <a:srgbClr val="6B6B80"/>
                </a:solidFill>
              </a:rPr>
              <a:t>Each cell = how much one customer bought of one product (log scale, so one huge order does not dominate). Products with fewer than 10 buyers are left out.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2E1A47"/>
                </a:solidFill>
              </a:rPr>
              <a:t>Why Truncated SVD</a:t>
            </a:r>
            <a:endParaRPr lang="en-US" sz="3200" dirty="0"/>
          </a:p>
        </p:txBody>
      </p:sp>
      <p:sp>
        <p:nvSpPr>
          <p:cNvPr id="3" name="Method card 1"/>
          <p:cNvSpPr/>
          <p:nvPr/>
        </p:nvSpPr>
        <p:spPr>
          <a:xfrm>
            <a:off x="457200" y="1280160"/>
            <a:ext cx="4023360" cy="2377440"/>
          </a:xfrm>
          <a:prstGeom prst="roundRect">
            <a:avLst>
              <a:gd name="adj" fmla="val 4615"/>
            </a:avLst>
          </a:prstGeom>
          <a:solidFill>
            <a:schemeClr val="bg2"/>
          </a:solidFill>
          <a:ln w="12700">
            <a:solidFill>
              <a:schemeClr val="bg2"/>
            </a:solidFill>
            <a:prstDash val="solid"/>
          </a:ln>
        </p:spPr>
      </p:sp>
      <p:sp>
        <p:nvSpPr>
          <p:cNvPr id="4" name="Method dot 1"/>
          <p:cNvSpPr/>
          <p:nvPr/>
        </p:nvSpPr>
        <p:spPr>
          <a:xfrm>
            <a:off x="640080" y="1444752"/>
            <a:ext cx="274320" cy="274320"/>
          </a:xfrm>
          <a:prstGeom prst="ellipse">
            <a:avLst/>
          </a:prstGeom>
          <a:solidFill>
            <a:srgbClr val="1B998B"/>
          </a:solidFill>
          <a:ln w="12700">
            <a:solidFill>
              <a:srgbClr val="1B998B"/>
            </a:solidFill>
            <a:prstDash val="solid"/>
          </a:ln>
        </p:spPr>
      </p:sp>
      <p:sp>
        <p:nvSpPr>
          <p:cNvPr id="5" name="Method head 1"/>
          <p:cNvSpPr txBox="1"/>
          <p:nvPr/>
        </p:nvSpPr>
        <p:spPr>
          <a:xfrm>
            <a:off x="1051560" y="1371600"/>
            <a:ext cx="3291840" cy="457200"/>
          </a:xfrm>
          <a:prstGeom prst="rect">
            <a:avLst/>
          </a:prstGeom>
          <a:noFill/>
          <a:ln/>
        </p:spPr>
        <p:txBody>
          <a:bodyPr wrap="square" lIns="0" tIns="0" rIns="0" bIns="0" rtlCol="0" anchor="ctr"/>
          <a:lstStyle/>
          <a:p>
            <a:pPr indent="0" marL="0">
              <a:buNone/>
            </a:pPr>
            <a:r>
              <a:rPr lang="en-US" sz="1800" b="1" dirty="0">
                <a:solidFill>
                  <a:srgbClr val="2E1A47"/>
                </a:solidFill>
              </a:rPr>
              <a:t>Truncated SVD: our choice</a:t>
            </a:r>
            <a:endParaRPr lang="en-US" sz="1800" dirty="0"/>
          </a:p>
        </p:txBody>
      </p:sp>
      <p:sp>
        <p:nvSpPr>
          <p:cNvPr id="6" name="Method items 1"/>
          <p:cNvSpPr txBox="1"/>
          <p:nvPr/>
        </p:nvSpPr>
        <p:spPr>
          <a:xfrm>
            <a:off x="640080" y="1965960"/>
            <a:ext cx="365760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1B2E"/>
                </a:solidFill>
              </a:rPr>
              <a:t>Works on the sparse table as it is</a:t>
            </a:r>
            <a:endParaRPr lang="en-US" sz="1400" dirty="0"/>
          </a:p>
          <a:p>
            <a:pPr marL="342900" indent="-342900">
              <a:spcAft>
                <a:spcPts val="600"/>
              </a:spcAft>
              <a:buSzPct val="100000"/>
              <a:buChar char="•"/>
            </a:pPr>
            <a:r>
              <a:rPr lang="en-US" sz="1400" dirty="0">
                <a:solidFill>
                  <a:srgbClr val="1F1B2E"/>
                </a:solidFill>
              </a:rPr>
              <a:t>Gives customer and product patterns in one fit</a:t>
            </a:r>
            <a:endParaRPr lang="en-US" sz="1400" dirty="0"/>
          </a:p>
          <a:p>
            <a:pPr marL="342900" indent="-342900">
              <a:spcAft>
                <a:spcPts val="600"/>
              </a:spcAft>
              <a:buSzPct val="100000"/>
              <a:buChar char="•"/>
            </a:pPr>
            <a:r>
              <a:rPr lang="en-US" sz="1400" dirty="0">
                <a:solidFill>
                  <a:srgbClr val="1F1B2E"/>
                </a:solidFill>
              </a:rPr>
              <a:t>Products are similar when the same customers buy them</a:t>
            </a:r>
            <a:endParaRPr lang="en-US" sz="1400" dirty="0"/>
          </a:p>
        </p:txBody>
      </p:sp>
      <p:sp>
        <p:nvSpPr>
          <p:cNvPr id="7" name="Method card 2"/>
          <p:cNvSpPr/>
          <p:nvPr/>
        </p:nvSpPr>
        <p:spPr>
          <a:xfrm>
            <a:off x="4663440" y="1280160"/>
            <a:ext cx="4023360" cy="2377440"/>
          </a:xfrm>
          <a:prstGeom prst="roundRect">
            <a:avLst>
              <a:gd name="adj" fmla="val 4615"/>
            </a:avLst>
          </a:prstGeom>
          <a:solidFill>
            <a:schemeClr val="bg2"/>
          </a:solidFill>
          <a:ln w="12700">
            <a:solidFill>
              <a:schemeClr val="bg2"/>
            </a:solidFill>
            <a:prstDash val="solid"/>
          </a:ln>
        </p:spPr>
      </p:sp>
      <p:sp>
        <p:nvSpPr>
          <p:cNvPr id="8" name="Method dot 2"/>
          <p:cNvSpPr/>
          <p:nvPr/>
        </p:nvSpPr>
        <p:spPr>
          <a:xfrm>
            <a:off x="4846320" y="1444752"/>
            <a:ext cx="274320" cy="274320"/>
          </a:xfrm>
          <a:prstGeom prst="ellipse">
            <a:avLst/>
          </a:prstGeom>
          <a:solidFill>
            <a:srgbClr val="8A7FA0"/>
          </a:solidFill>
          <a:ln w="12700">
            <a:solidFill>
              <a:srgbClr val="8A7FA0"/>
            </a:solidFill>
            <a:prstDash val="solid"/>
          </a:ln>
        </p:spPr>
      </p:sp>
      <p:sp>
        <p:nvSpPr>
          <p:cNvPr id="9" name="Method head 2"/>
          <p:cNvSpPr txBox="1"/>
          <p:nvPr/>
        </p:nvSpPr>
        <p:spPr>
          <a:xfrm>
            <a:off x="5257800" y="1371600"/>
            <a:ext cx="3291840" cy="457200"/>
          </a:xfrm>
          <a:prstGeom prst="rect">
            <a:avLst/>
          </a:prstGeom>
          <a:noFill/>
          <a:ln/>
        </p:spPr>
        <p:txBody>
          <a:bodyPr wrap="square" lIns="0" tIns="0" rIns="0" bIns="0" rtlCol="0" anchor="ctr"/>
          <a:lstStyle/>
          <a:p>
            <a:pPr indent="0" marL="0">
              <a:buNone/>
            </a:pPr>
            <a:r>
              <a:rPr lang="en-US" sz="1800" b="1" dirty="0">
                <a:solidFill>
                  <a:srgbClr val="2E1A47"/>
                </a:solidFill>
              </a:rPr>
              <a:t>PCA: the comparison</a:t>
            </a:r>
            <a:endParaRPr lang="en-US" sz="1800" dirty="0"/>
          </a:p>
        </p:txBody>
      </p:sp>
      <p:sp>
        <p:nvSpPr>
          <p:cNvPr id="10" name="Method items 2"/>
          <p:cNvSpPr txBox="1"/>
          <p:nvPr/>
        </p:nvSpPr>
        <p:spPr>
          <a:xfrm>
            <a:off x="4846320" y="1965960"/>
            <a:ext cx="365760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1B2E"/>
                </a:solidFill>
              </a:rPr>
              <a:t>Subtracts the average customer first</a:t>
            </a:r>
            <a:endParaRPr lang="en-US" sz="1400" dirty="0"/>
          </a:p>
          <a:p>
            <a:pPr marL="342900" indent="-342900">
              <a:spcAft>
                <a:spcPts val="600"/>
              </a:spcAft>
              <a:buSzPct val="100000"/>
              <a:buChar char="•"/>
            </a:pPr>
            <a:r>
              <a:rPr lang="en-US" sz="1400" dirty="0">
                <a:solidFill>
                  <a:srgbClr val="1F1B2E"/>
                </a:solidFill>
              </a:rPr>
              <a:t>Describes how customers differ from the average</a:t>
            </a:r>
            <a:endParaRPr lang="en-US" sz="1400" dirty="0"/>
          </a:p>
          <a:p>
            <a:pPr marL="342900" indent="-342900">
              <a:spcAft>
                <a:spcPts val="600"/>
              </a:spcAft>
              <a:buSzPct val="100000"/>
              <a:buChar char="•"/>
            </a:pPr>
            <a:r>
              <a:rPr lang="en-US" sz="1400" dirty="0">
                <a:solidFill>
                  <a:srgbClr val="1F1B2E"/>
                </a:solidFill>
              </a:rPr>
              <a:t>Same settings: 0.2180 vs 0.2148, a gap of about 6 customers</a:t>
            </a:r>
            <a:endParaRPr lang="en-US" sz="1400" dirty="0"/>
          </a:p>
        </p:txBody>
      </p:sp>
      <p:sp>
        <p:nvSpPr>
          <p:cNvPr id="11" name="Method note"/>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400" dirty="0">
                <a:solidFill>
                  <a:srgbClr val="6B6B80"/>
                </a:solidFill>
              </a:rPr>
              <a:t>Chosen before any model was fitted. In both, component 1 is simply how much a customer buys (correlation 0.97).</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2E1A47"/>
                </a:solidFill>
              </a:rPr>
              <a:t>What compressing loses</a:t>
            </a:r>
            <a:endParaRPr lang="en-US" sz="3200" dirty="0"/>
          </a:p>
        </p:txBody>
      </p:sp>
      <p:graphicFrame>
        <p:nvGraphicFramePr>
          <p:cNvPr id="3" name="Chart 0" descr=""/>
          <p:cNvGraphicFramePr/>
          <p:nvPr/>
        </p:nvGraphicFramePr>
        <p:xfrm>
          <a:off x="457200" y="123444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4" name="Loss card"/>
          <p:cNvSpPr/>
          <p:nvPr/>
        </p:nvSpPr>
        <p:spPr>
          <a:xfrm>
            <a:off x="5852160" y="1325880"/>
            <a:ext cx="2834640" cy="3017520"/>
          </a:xfrm>
          <a:prstGeom prst="roundRect">
            <a:avLst>
              <a:gd name="adj" fmla="val 3871"/>
            </a:avLst>
          </a:prstGeom>
          <a:solidFill>
            <a:schemeClr val="bg2"/>
          </a:solidFill>
          <a:ln w="12700">
            <a:solidFill>
              <a:schemeClr val="bg2"/>
            </a:solidFill>
            <a:prstDash val="solid"/>
          </a:ln>
        </p:spPr>
      </p:sp>
      <p:sp>
        <p:nvSpPr>
          <p:cNvPr id="5" name="Loss number"/>
          <p:cNvSpPr txBox="1"/>
          <p:nvPr/>
        </p:nvSpPr>
        <p:spPr>
          <a:xfrm>
            <a:off x="6035040" y="1463040"/>
            <a:ext cx="2468880" cy="822960"/>
          </a:xfrm>
          <a:prstGeom prst="rect">
            <a:avLst/>
          </a:prstGeom>
          <a:noFill/>
          <a:ln/>
        </p:spPr>
        <p:txBody>
          <a:bodyPr wrap="square" lIns="0" tIns="0" rIns="0" bIns="0" rtlCol="0" anchor="ctr"/>
          <a:lstStyle/>
          <a:p>
            <a:pPr indent="0" marL="0">
              <a:buNone/>
            </a:pPr>
            <a:r>
              <a:rPr lang="en-US" sz="4400" b="1" dirty="0">
                <a:solidFill>
                  <a:srgbClr val="E8574A"/>
                </a:solidFill>
                <a:latin typeface="Cambria" pitchFamily="34" charset="0"/>
                <a:ea typeface="Cambria" pitchFamily="34" charset="-122"/>
                <a:cs typeface="Cambria" pitchFamily="34" charset="-120"/>
              </a:rPr>
              <a:t>64%</a:t>
            </a:r>
            <a:endParaRPr lang="en-US" sz="4400" dirty="0"/>
          </a:p>
        </p:txBody>
      </p:sp>
      <p:sp>
        <p:nvSpPr>
          <p:cNvPr id="6" name="Loss text"/>
          <p:cNvSpPr txBox="1"/>
          <p:nvPr/>
        </p:nvSpPr>
        <p:spPr>
          <a:xfrm>
            <a:off x="6035040" y="2286000"/>
            <a:ext cx="2468880" cy="914400"/>
          </a:xfrm>
          <a:prstGeom prst="rect">
            <a:avLst/>
          </a:prstGeom>
          <a:noFill/>
          <a:ln/>
        </p:spPr>
        <p:txBody>
          <a:bodyPr wrap="square" lIns="0" tIns="0" rIns="0" bIns="0" rtlCol="0" anchor="t"/>
          <a:lstStyle/>
          <a:p>
            <a:pPr indent="0" marL="0">
              <a:buNone/>
            </a:pPr>
            <a:r>
              <a:rPr lang="en-US" sz="1400" dirty="0">
                <a:solidFill>
                  <a:srgbClr val="1F1B2E"/>
                </a:solidFill>
              </a:rPr>
              <a:t>of the table is not rebuilt at k = 200. The curve has no elbow, so we took the lowest error.</a:t>
            </a:r>
            <a:endParaRPr lang="en-US" sz="1400" dirty="0"/>
          </a:p>
        </p:txBody>
      </p:sp>
      <p:sp>
        <p:nvSpPr>
          <p:cNvPr id="7" name="Loss caveat"/>
          <p:cNvSpPr txBox="1"/>
          <p:nvPr/>
        </p:nvSpPr>
        <p:spPr>
          <a:xfrm>
            <a:off x="6035040" y="3291840"/>
            <a:ext cx="2468880" cy="822960"/>
          </a:xfrm>
          <a:prstGeom prst="rect">
            <a:avLst/>
          </a:prstGeom>
          <a:noFill/>
          <a:ln/>
        </p:spPr>
        <p:txBody>
          <a:bodyPr wrap="square" lIns="0" tIns="0" rIns="0" bIns="0" rtlCol="0" anchor="t"/>
          <a:lstStyle/>
          <a:p>
            <a:pPr indent="0" marL="0">
              <a:buNone/>
            </a:pPr>
            <a:r>
              <a:rPr lang="en-US" sz="1400" b="1" dirty="0">
                <a:solidFill>
                  <a:srgbClr val="2E1A47"/>
                </a:solidFill>
              </a:rPr>
              <a:t>This measures copying the table, not suggestion quality.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2E1A47"/>
                </a:solidFill>
              </a:rPr>
              <a:t>Best sellers still win</a:t>
            </a:r>
            <a:endParaRPr lang="en-US" sz="3200" dirty="0"/>
          </a:p>
        </p:txBody>
      </p:sp>
      <p:graphicFrame>
        <p:nvGraphicFramePr>
          <p:cNvPr id="3" name="Chart 0" descr=""/>
          <p:cNvGraphicFramePr/>
          <p:nvPr/>
        </p:nvGraphicFramePr>
        <p:xfrm>
          <a:off x="457200" y="123444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4" name="Result card"/>
          <p:cNvSpPr/>
          <p:nvPr/>
        </p:nvSpPr>
        <p:spPr>
          <a:xfrm>
            <a:off x="5852160" y="1325880"/>
            <a:ext cx="2834640" cy="3017520"/>
          </a:xfrm>
          <a:prstGeom prst="roundRect">
            <a:avLst>
              <a:gd name="adj" fmla="val 3871"/>
            </a:avLst>
          </a:prstGeom>
          <a:solidFill>
            <a:schemeClr val="bg2"/>
          </a:solidFill>
          <a:ln w="12700">
            <a:solidFill>
              <a:schemeClr val="bg2"/>
            </a:solidFill>
            <a:prstDash val="solid"/>
          </a:ln>
        </p:spPr>
      </p:sp>
      <p:sp>
        <p:nvSpPr>
          <p:cNvPr id="5" name="Result headline"/>
          <p:cNvSpPr txBox="1"/>
          <p:nvPr/>
        </p:nvSpPr>
        <p:spPr>
          <a:xfrm>
            <a:off x="6035040" y="1463040"/>
            <a:ext cx="2468880" cy="822960"/>
          </a:xfrm>
          <a:prstGeom prst="rect">
            <a:avLst/>
          </a:prstGeom>
          <a:noFill/>
          <a:ln/>
        </p:spPr>
        <p:txBody>
          <a:bodyPr wrap="square" lIns="0" tIns="0" rIns="0" bIns="0" rtlCol="0" anchor="t"/>
          <a:lstStyle/>
          <a:p>
            <a:pPr indent="0" marL="0">
              <a:buNone/>
            </a:pPr>
            <a:r>
              <a:rPr lang="en-US" sz="2000" b="1" dirty="0">
                <a:solidFill>
                  <a:srgbClr val="E8574A"/>
                </a:solidFill>
                <a:latin typeface="Cambria" pitchFamily="34" charset="0"/>
                <a:ea typeface="Cambria" pitchFamily="34" charset="-122"/>
                <a:cs typeface="Cambria" pitchFamily="34" charset="-120"/>
              </a:rPr>
              <a:t>Best sellers ahead by 5.4 points</a:t>
            </a:r>
            <a:endParaRPr lang="en-US" sz="2000" dirty="0"/>
          </a:p>
        </p:txBody>
      </p:sp>
      <p:sp>
        <p:nvSpPr>
          <p:cNvPr id="6" name="Result points"/>
          <p:cNvSpPr txBox="1"/>
          <p:nvPr/>
        </p:nvSpPr>
        <p:spPr>
          <a:xfrm>
            <a:off x="6035040" y="2286000"/>
            <a:ext cx="251460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1B2E"/>
                </a:solidFill>
              </a:rPr>
              <a:t>1,913 test customers, 44,727 purchases the model never saw</a:t>
            </a:r>
            <a:endParaRPr lang="en-US" sz="1300" dirty="0"/>
          </a:p>
          <a:p>
            <a:pPr marL="342900" indent="-342900">
              <a:spcAft>
                <a:spcPts val="600"/>
              </a:spcAft>
              <a:buSzPct val="100000"/>
              <a:buChar char="•"/>
            </a:pPr>
            <a:r>
              <a:rPr lang="en-US" sz="1300" dirty="0">
                <a:solidFill>
                  <a:srgbClr val="1F1B2E"/>
                </a:solidFill>
              </a:rPr>
              <a:t>Hit = at least one of 10 suggestions was bought</a:t>
            </a:r>
            <a:endParaRPr lang="en-US" sz="1300" dirty="0"/>
          </a:p>
          <a:p>
            <a:pPr marL="342900" indent="-342900">
              <a:buSzPct val="100000"/>
              <a:buChar char="•"/>
            </a:pPr>
            <a:r>
              <a:rPr lang="en-US" sz="1300" dirty="0">
                <a:solidFill>
                  <a:srgbClr val="1F1B2E"/>
                </a:solidFill>
              </a:rPr>
              <a:t>One split, one run; k not changed after seeing this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2E1A47"/>
                </a:solidFill>
              </a:rPr>
              <a:t>Three groups, mostly volume tiers</a:t>
            </a:r>
            <a:endParaRPr lang="en-US" sz="3200" dirty="0"/>
          </a:p>
        </p:txBody>
      </p:sp>
      <p:pic>
        <p:nvPicPr>
          <p:cNvPr id="3" name="Customer map" descr="Customer map: each dot is one customer, coloured by segment">    </p:cNvPr>
          <p:cNvPicPr>
            <a:picLocks noChangeAspect="1"/>
          </p:cNvPicPr>
          <p:nvPr/>
        </p:nvPicPr>
        <p:blipFill>
          <a:blip r:embed="rId1"/>
          <a:stretch>
            <a:fillRect/>
          </a:stretch>
        </p:blipFill>
        <p:spPr>
          <a:xfrm>
            <a:off x="457200" y="1234440"/>
            <a:ext cx="4937760" cy="3291840"/>
          </a:xfrm>
          <a:prstGeom prst="rect">
            <a:avLst/>
          </a:prstGeom>
        </p:spPr>
      </p:pic>
      <p:sp>
        <p:nvSpPr>
          <p:cNvPr id="4" name="Segment card 1"/>
          <p:cNvSpPr/>
          <p:nvPr/>
        </p:nvSpPr>
        <p:spPr>
          <a:xfrm>
            <a:off x="5623560" y="1234440"/>
            <a:ext cx="3063240" cy="960120"/>
          </a:xfrm>
          <a:prstGeom prst="roundRect">
            <a:avLst>
              <a:gd name="adj" fmla="val 11429"/>
            </a:avLst>
          </a:prstGeom>
          <a:solidFill>
            <a:schemeClr val="bg2"/>
          </a:solidFill>
          <a:ln w="12700">
            <a:solidFill>
              <a:schemeClr val="bg2"/>
            </a:solidFill>
            <a:prstDash val="solid"/>
          </a:ln>
        </p:spPr>
      </p:sp>
      <p:sp>
        <p:nvSpPr>
          <p:cNvPr id="5" name="Segment dot 1"/>
          <p:cNvSpPr/>
          <p:nvPr/>
        </p:nvSpPr>
        <p:spPr>
          <a:xfrm>
            <a:off x="5760720" y="1417320"/>
            <a:ext cx="256032" cy="256032"/>
          </a:xfrm>
          <a:prstGeom prst="ellipse">
            <a:avLst/>
          </a:prstGeom>
          <a:solidFill>
            <a:srgbClr val="1B998B"/>
          </a:solidFill>
          <a:ln w="12700">
            <a:solidFill>
              <a:srgbClr val="1B998B"/>
            </a:solidFill>
            <a:prstDash val="solid"/>
          </a:ln>
        </p:spPr>
      </p:sp>
      <p:sp>
        <p:nvSpPr>
          <p:cNvPr id="6" name="Segment name 1"/>
          <p:cNvSpPr txBox="1"/>
          <p:nvPr/>
        </p:nvSpPr>
        <p:spPr>
          <a:xfrm>
            <a:off x="6126480" y="1325880"/>
            <a:ext cx="2468880" cy="320040"/>
          </a:xfrm>
          <a:prstGeom prst="rect">
            <a:avLst/>
          </a:prstGeom>
          <a:noFill/>
          <a:ln/>
        </p:spPr>
        <p:txBody>
          <a:bodyPr wrap="square" lIns="0" tIns="0" rIns="0" bIns="0" rtlCol="0" anchor="ctr"/>
          <a:lstStyle/>
          <a:p>
            <a:pPr indent="0" marL="0">
              <a:buNone/>
            </a:pPr>
            <a:r>
              <a:rPr lang="en-US" sz="1400" b="1" dirty="0">
                <a:solidFill>
                  <a:srgbClr val="2E1A47"/>
                </a:solidFill>
              </a:rPr>
              <a:t>Occasional small buyers</a:t>
            </a:r>
            <a:endParaRPr lang="en-US" sz="1400" dirty="0"/>
          </a:p>
        </p:txBody>
      </p:sp>
      <p:sp>
        <p:nvSpPr>
          <p:cNvPr id="7" name="Segment detail 1"/>
          <p:cNvSpPr txBox="1"/>
          <p:nvPr/>
        </p:nvSpPr>
        <p:spPr>
          <a:xfrm>
            <a:off x="6126480" y="1645920"/>
            <a:ext cx="2468880" cy="502920"/>
          </a:xfrm>
          <a:prstGeom prst="rect">
            <a:avLst/>
          </a:prstGeom>
          <a:noFill/>
          <a:ln/>
        </p:spPr>
        <p:txBody>
          <a:bodyPr wrap="square" lIns="0" tIns="0" rIns="0" bIns="0" rtlCol="0" anchor="t"/>
          <a:lstStyle/>
          <a:p>
            <a:pPr indent="0" marL="0">
              <a:buNone/>
            </a:pPr>
            <a:r>
              <a:rPr lang="en-US" sz="1200" dirty="0">
                <a:solidFill>
                  <a:srgbClr val="1F1B2E"/>
                </a:solidFill>
              </a:rPr>
              <a:t>4,748 customers (87%), about 48 products each</a:t>
            </a:r>
            <a:endParaRPr lang="en-US" sz="1200" dirty="0"/>
          </a:p>
        </p:txBody>
      </p:sp>
      <p:sp>
        <p:nvSpPr>
          <p:cNvPr id="8" name="Segment card 2"/>
          <p:cNvSpPr/>
          <p:nvPr/>
        </p:nvSpPr>
        <p:spPr>
          <a:xfrm>
            <a:off x="5623560" y="2331720"/>
            <a:ext cx="3063240" cy="960120"/>
          </a:xfrm>
          <a:prstGeom prst="roundRect">
            <a:avLst>
              <a:gd name="adj" fmla="val 11429"/>
            </a:avLst>
          </a:prstGeom>
          <a:solidFill>
            <a:schemeClr val="bg2"/>
          </a:solidFill>
          <a:ln w="12700">
            <a:solidFill>
              <a:schemeClr val="bg2"/>
            </a:solidFill>
            <a:prstDash val="solid"/>
          </a:ln>
        </p:spPr>
      </p:sp>
      <p:sp>
        <p:nvSpPr>
          <p:cNvPr id="9" name="Segment dot 2"/>
          <p:cNvSpPr/>
          <p:nvPr/>
        </p:nvSpPr>
        <p:spPr>
          <a:xfrm>
            <a:off x="5760720" y="2514600"/>
            <a:ext cx="256032" cy="256032"/>
          </a:xfrm>
          <a:prstGeom prst="ellipse">
            <a:avLst/>
          </a:prstGeom>
          <a:solidFill>
            <a:srgbClr val="E8574A"/>
          </a:solidFill>
          <a:ln w="12700">
            <a:solidFill>
              <a:srgbClr val="E8574A"/>
            </a:solidFill>
            <a:prstDash val="solid"/>
          </a:ln>
        </p:spPr>
      </p:sp>
      <p:sp>
        <p:nvSpPr>
          <p:cNvPr id="10" name="Segment name 2"/>
          <p:cNvSpPr txBox="1"/>
          <p:nvPr/>
        </p:nvSpPr>
        <p:spPr>
          <a:xfrm>
            <a:off x="6126480" y="2423160"/>
            <a:ext cx="2468880" cy="320040"/>
          </a:xfrm>
          <a:prstGeom prst="rect">
            <a:avLst/>
          </a:prstGeom>
          <a:noFill/>
          <a:ln/>
        </p:spPr>
        <p:txBody>
          <a:bodyPr wrap="square" lIns="0" tIns="0" rIns="0" bIns="0" rtlCol="0" anchor="ctr"/>
          <a:lstStyle/>
          <a:p>
            <a:pPr indent="0" marL="0">
              <a:buNone/>
            </a:pPr>
            <a:r>
              <a:rPr lang="en-US" sz="1400" b="1" dirty="0">
                <a:solidFill>
                  <a:srgbClr val="2E1A47"/>
                </a:solidFill>
              </a:rPr>
              <a:t>Regular core buyers</a:t>
            </a:r>
            <a:endParaRPr lang="en-US" sz="1400" dirty="0"/>
          </a:p>
        </p:txBody>
      </p:sp>
      <p:sp>
        <p:nvSpPr>
          <p:cNvPr id="11" name="Segment detail 2"/>
          <p:cNvSpPr txBox="1"/>
          <p:nvPr/>
        </p:nvSpPr>
        <p:spPr>
          <a:xfrm>
            <a:off x="6126480" y="2743200"/>
            <a:ext cx="2468880" cy="502920"/>
          </a:xfrm>
          <a:prstGeom prst="rect">
            <a:avLst/>
          </a:prstGeom>
          <a:noFill/>
          <a:ln/>
        </p:spPr>
        <p:txBody>
          <a:bodyPr wrap="square" lIns="0" tIns="0" rIns="0" bIns="0" rtlCol="0" anchor="t"/>
          <a:lstStyle/>
          <a:p>
            <a:pPr indent="0" marL="0">
              <a:buNone/>
            </a:pPr>
            <a:r>
              <a:rPr lang="en-US" sz="1200" dirty="0">
                <a:solidFill>
                  <a:srgbClr val="1F1B2E"/>
                </a:solidFill>
              </a:rPr>
              <a:t>712 customers (13%), about 238 products each</a:t>
            </a:r>
            <a:endParaRPr lang="en-US" sz="1200" dirty="0"/>
          </a:p>
        </p:txBody>
      </p:sp>
      <p:sp>
        <p:nvSpPr>
          <p:cNvPr id="12" name="Segment card 3"/>
          <p:cNvSpPr/>
          <p:nvPr/>
        </p:nvSpPr>
        <p:spPr>
          <a:xfrm>
            <a:off x="5623560" y="3429000"/>
            <a:ext cx="3063240" cy="960120"/>
          </a:xfrm>
          <a:prstGeom prst="roundRect">
            <a:avLst>
              <a:gd name="adj" fmla="val 11429"/>
            </a:avLst>
          </a:prstGeom>
          <a:solidFill>
            <a:schemeClr val="bg2"/>
          </a:solidFill>
          <a:ln w="12700">
            <a:solidFill>
              <a:schemeClr val="bg2"/>
            </a:solidFill>
            <a:prstDash val="solid"/>
          </a:ln>
        </p:spPr>
      </p:sp>
      <p:sp>
        <p:nvSpPr>
          <p:cNvPr id="13" name="Segment dot 3"/>
          <p:cNvSpPr/>
          <p:nvPr/>
        </p:nvSpPr>
        <p:spPr>
          <a:xfrm>
            <a:off x="5760720" y="3611880"/>
            <a:ext cx="256032" cy="256032"/>
          </a:xfrm>
          <a:prstGeom prst="ellipse">
            <a:avLst/>
          </a:prstGeom>
          <a:solidFill>
            <a:srgbClr val="8A7FA0"/>
          </a:solidFill>
          <a:ln w="12700">
            <a:solidFill>
              <a:srgbClr val="8A7FA0"/>
            </a:solidFill>
            <a:prstDash val="solid"/>
          </a:ln>
        </p:spPr>
      </p:sp>
      <p:sp>
        <p:nvSpPr>
          <p:cNvPr id="14" name="Segment name 3"/>
          <p:cNvSpPr txBox="1"/>
          <p:nvPr/>
        </p:nvSpPr>
        <p:spPr>
          <a:xfrm>
            <a:off x="6126480" y="3520440"/>
            <a:ext cx="2468880" cy="320040"/>
          </a:xfrm>
          <a:prstGeom prst="rect">
            <a:avLst/>
          </a:prstGeom>
          <a:noFill/>
          <a:ln/>
        </p:spPr>
        <p:txBody>
          <a:bodyPr wrap="square" lIns="0" tIns="0" rIns="0" bIns="0" rtlCol="0" anchor="ctr"/>
          <a:lstStyle/>
          <a:p>
            <a:pPr indent="0" marL="0">
              <a:buNone/>
            </a:pPr>
            <a:r>
              <a:rPr lang="en-US" sz="1400" b="1" dirty="0">
                <a:solidFill>
                  <a:srgbClr val="2E1A47"/>
                </a:solidFill>
              </a:rPr>
              <a:t>Largest accounts</a:t>
            </a:r>
            <a:endParaRPr lang="en-US" sz="1400" dirty="0"/>
          </a:p>
        </p:txBody>
      </p:sp>
      <p:sp>
        <p:nvSpPr>
          <p:cNvPr id="15" name="Segment detail 3"/>
          <p:cNvSpPr txBox="1"/>
          <p:nvPr/>
        </p:nvSpPr>
        <p:spPr>
          <a:xfrm>
            <a:off x="6126480" y="3840480"/>
            <a:ext cx="2468880" cy="502920"/>
          </a:xfrm>
          <a:prstGeom prst="rect">
            <a:avLst/>
          </a:prstGeom>
          <a:noFill/>
          <a:ln/>
        </p:spPr>
        <p:txBody>
          <a:bodyPr wrap="square" lIns="0" tIns="0" rIns="0" bIns="0" rtlCol="0" anchor="t"/>
          <a:lstStyle/>
          <a:p>
            <a:pPr indent="0" marL="0">
              <a:buNone/>
            </a:pPr>
            <a:r>
              <a:rPr lang="en-US" sz="1200" dirty="0">
                <a:solidFill>
                  <a:srgbClr val="1F1B2E"/>
                </a:solidFill>
              </a:rPr>
              <a:t>13 customers (0.2%), about 1,146 products each</a:t>
            </a:r>
            <a:endParaRPr lang="en-US" sz="1200" dirty="0"/>
          </a:p>
        </p:txBody>
      </p:sp>
      <p:sp>
        <p:nvSpPr>
          <p:cNvPr id="16" name="Map caveat"/>
          <p:cNvSpPr txBox="1"/>
          <p:nvPr/>
        </p:nvSpPr>
        <p:spPr>
          <a:xfrm>
            <a:off x="5623560" y="4526280"/>
            <a:ext cx="3063240" cy="365760"/>
          </a:xfrm>
          <a:prstGeom prst="rect">
            <a:avLst/>
          </a:prstGeom>
          <a:noFill/>
          <a:ln/>
        </p:spPr>
        <p:txBody>
          <a:bodyPr wrap="square" lIns="0" tIns="0" rIns="0" bIns="0" rtlCol="0" anchor="ctr"/>
          <a:lstStyle/>
          <a:p>
            <a:pPr indent="0" marL="0">
              <a:buNone/>
            </a:pPr>
            <a:r>
              <a:rPr lang="en-US" sz="1000" dirty="0">
                <a:solidFill>
                  <a:srgbClr val="6B6B80"/>
                </a:solidFill>
              </a:rPr>
              <a:t>Groups differ mainly in how much people buy, not in taste. No customer IDs shown.</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2E1A47"/>
                </a:solidFill>
              </a:rPr>
              <a:t>Risks and next steps</a:t>
            </a:r>
            <a:endParaRPr lang="en-US" sz="3200" dirty="0"/>
          </a:p>
        </p:txBody>
      </p:sp>
      <p:sp>
        <p:nvSpPr>
          <p:cNvPr id="3" name="List card 1"/>
          <p:cNvSpPr/>
          <p:nvPr/>
        </p:nvSpPr>
        <p:spPr>
          <a:xfrm>
            <a:off x="457200" y="1280160"/>
            <a:ext cx="4023360" cy="2926080"/>
          </a:xfrm>
          <a:prstGeom prst="roundRect">
            <a:avLst>
              <a:gd name="adj" fmla="val 3750"/>
            </a:avLst>
          </a:prstGeom>
          <a:solidFill>
            <a:schemeClr val="bg2"/>
          </a:solidFill>
          <a:ln w="12700">
            <a:solidFill>
              <a:schemeClr val="bg2"/>
            </a:solidFill>
            <a:prstDash val="solid"/>
          </a:ln>
        </p:spPr>
      </p:sp>
      <p:sp>
        <p:nvSpPr>
          <p:cNvPr id="4" name="List dot 1"/>
          <p:cNvSpPr/>
          <p:nvPr/>
        </p:nvSpPr>
        <p:spPr>
          <a:xfrm>
            <a:off x="640080" y="1444752"/>
            <a:ext cx="274320" cy="274320"/>
          </a:xfrm>
          <a:prstGeom prst="ellipse">
            <a:avLst/>
          </a:prstGeom>
          <a:solidFill>
            <a:srgbClr val="E8574A"/>
          </a:solidFill>
          <a:ln w="12700">
            <a:solidFill>
              <a:srgbClr val="E8574A"/>
            </a:solidFill>
            <a:prstDash val="solid"/>
          </a:ln>
        </p:spPr>
      </p:sp>
      <p:sp>
        <p:nvSpPr>
          <p:cNvPr id="5" name="List head 1"/>
          <p:cNvSpPr txBox="1"/>
          <p:nvPr/>
        </p:nvSpPr>
        <p:spPr>
          <a:xfrm>
            <a:off x="1051560" y="1371600"/>
            <a:ext cx="3291840" cy="457200"/>
          </a:xfrm>
          <a:prstGeom prst="rect">
            <a:avLst/>
          </a:prstGeom>
          <a:noFill/>
          <a:ln/>
        </p:spPr>
        <p:txBody>
          <a:bodyPr wrap="square" lIns="0" tIns="0" rIns="0" bIns="0" rtlCol="0" anchor="ctr"/>
          <a:lstStyle/>
          <a:p>
            <a:pPr indent="0" marL="0">
              <a:buNone/>
            </a:pPr>
            <a:r>
              <a:rPr lang="en-US" sz="1800" b="1" dirty="0">
                <a:solidFill>
                  <a:srgbClr val="2E1A47"/>
                </a:solidFill>
              </a:rPr>
              <a:t>What could go wrong</a:t>
            </a:r>
            <a:endParaRPr lang="en-US" sz="1800" dirty="0"/>
          </a:p>
        </p:txBody>
      </p:sp>
      <p:sp>
        <p:nvSpPr>
          <p:cNvPr id="6" name="List items 1"/>
          <p:cNvSpPr txBox="1"/>
          <p:nvPr/>
        </p:nvSpPr>
        <p:spPr>
          <a:xfrm>
            <a:off x="640080" y="1965960"/>
            <a:ext cx="365760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1B2E"/>
                </a:solidFill>
              </a:rPr>
              <a:t>22% of new purchases (13,829 of 63,252) come from customers with no history</a:t>
            </a:r>
            <a:endParaRPr lang="en-US" sz="1400" dirty="0"/>
          </a:p>
          <a:p>
            <a:pPr marL="342900" indent="-342900">
              <a:spcAft>
                <a:spcPts val="600"/>
              </a:spcAft>
              <a:buSzPct val="100000"/>
              <a:buChar char="•"/>
            </a:pPr>
            <a:r>
              <a:rPr lang="en-US" sz="1400" dirty="0">
                <a:solidFill>
                  <a:srgbClr val="1F1B2E"/>
                </a:solidFill>
              </a:rPr>
              <a:t>19% of products (842 of 4,529) are too rare to recommend</a:t>
            </a:r>
            <a:endParaRPr lang="en-US" sz="1400" dirty="0"/>
          </a:p>
          <a:p>
            <a:pPr marL="342900" indent="-342900">
              <a:spcAft>
                <a:spcPts val="600"/>
              </a:spcAft>
              <a:buSzPct val="100000"/>
              <a:buChar char="•"/>
            </a:pPr>
            <a:r>
              <a:rPr lang="en-US" sz="1400" dirty="0">
                <a:solidFill>
                  <a:srgbClr val="1F1B2E"/>
                </a:solidFill>
              </a:rPr>
              <a:t>Variants of one product can fill a whole list</a:t>
            </a:r>
            <a:endParaRPr lang="en-US" sz="1400" dirty="0"/>
          </a:p>
          <a:p>
            <a:pPr marL="342900" indent="-342900">
              <a:spcAft>
                <a:spcPts val="600"/>
              </a:spcAft>
              <a:buSzPct val="100000"/>
              <a:buChar char="•"/>
            </a:pPr>
            <a:r>
              <a:rPr lang="en-US" sz="1400" dirty="0">
                <a:solidFill>
                  <a:srgbClr val="1F1B2E"/>
                </a:solidFill>
              </a:rPr>
              <a:t>One split, one run; the top group is 13 customers</a:t>
            </a:r>
            <a:endParaRPr lang="en-US" sz="1400" dirty="0"/>
          </a:p>
        </p:txBody>
      </p:sp>
      <p:sp>
        <p:nvSpPr>
          <p:cNvPr id="7" name="List card 2"/>
          <p:cNvSpPr/>
          <p:nvPr/>
        </p:nvSpPr>
        <p:spPr>
          <a:xfrm>
            <a:off x="4663440" y="1280160"/>
            <a:ext cx="4023360" cy="2926080"/>
          </a:xfrm>
          <a:prstGeom prst="roundRect">
            <a:avLst>
              <a:gd name="adj" fmla="val 3750"/>
            </a:avLst>
          </a:prstGeom>
          <a:solidFill>
            <a:schemeClr val="bg2"/>
          </a:solidFill>
          <a:ln w="12700">
            <a:solidFill>
              <a:schemeClr val="bg2"/>
            </a:solidFill>
            <a:prstDash val="solid"/>
          </a:ln>
        </p:spPr>
      </p:sp>
      <p:sp>
        <p:nvSpPr>
          <p:cNvPr id="8" name="List dot 2"/>
          <p:cNvSpPr/>
          <p:nvPr/>
        </p:nvSpPr>
        <p:spPr>
          <a:xfrm>
            <a:off x="4846320" y="1444752"/>
            <a:ext cx="274320" cy="274320"/>
          </a:xfrm>
          <a:prstGeom prst="ellipse">
            <a:avLst/>
          </a:prstGeom>
          <a:solidFill>
            <a:srgbClr val="1B998B"/>
          </a:solidFill>
          <a:ln w="12700">
            <a:solidFill>
              <a:srgbClr val="1B998B"/>
            </a:solidFill>
            <a:prstDash val="solid"/>
          </a:ln>
        </p:spPr>
      </p:sp>
      <p:sp>
        <p:nvSpPr>
          <p:cNvPr id="9" name="List head 2"/>
          <p:cNvSpPr txBox="1"/>
          <p:nvPr/>
        </p:nvSpPr>
        <p:spPr>
          <a:xfrm>
            <a:off x="5257800" y="1371600"/>
            <a:ext cx="3291840" cy="457200"/>
          </a:xfrm>
          <a:prstGeom prst="rect">
            <a:avLst/>
          </a:prstGeom>
          <a:noFill/>
          <a:ln/>
        </p:spPr>
        <p:txBody>
          <a:bodyPr wrap="square" lIns="0" tIns="0" rIns="0" bIns="0" rtlCol="0" anchor="ctr"/>
          <a:lstStyle/>
          <a:p>
            <a:pPr indent="0" marL="0">
              <a:buNone/>
            </a:pPr>
            <a:r>
              <a:rPr lang="en-US" sz="1800" b="1" dirty="0">
                <a:solidFill>
                  <a:srgbClr val="2E1A47"/>
                </a:solidFill>
              </a:rPr>
              <a:t>Next steps</a:t>
            </a:r>
            <a:endParaRPr lang="en-US" sz="1800" dirty="0"/>
          </a:p>
        </p:txBody>
      </p:sp>
      <p:sp>
        <p:nvSpPr>
          <p:cNvPr id="10" name="List items 2"/>
          <p:cNvSpPr txBox="1"/>
          <p:nvPr/>
        </p:nvSpPr>
        <p:spPr>
          <a:xfrm>
            <a:off x="4846320" y="1965960"/>
            <a:ext cx="365760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1B2E"/>
                </a:solidFill>
              </a:rPr>
              <a:t>Choose k with a validation slice of older data</a:t>
            </a:r>
            <a:endParaRPr lang="en-US" sz="1400" dirty="0"/>
          </a:p>
          <a:p>
            <a:pPr marL="342900" indent="-342900">
              <a:spcAft>
                <a:spcPts val="600"/>
              </a:spcAft>
              <a:buSzPct val="100000"/>
              <a:buChar char="•"/>
            </a:pPr>
            <a:r>
              <a:rPr lang="en-US" sz="1400" dirty="0">
                <a:solidFill>
                  <a:srgbClr val="1F1B2E"/>
                </a:solidFill>
              </a:rPr>
              <a:t>Blend best sellers with personal suggestions</a:t>
            </a:r>
            <a:endParaRPr lang="en-US" sz="1400" dirty="0"/>
          </a:p>
          <a:p>
            <a:pPr marL="342900" indent="-342900">
              <a:spcAft>
                <a:spcPts val="600"/>
              </a:spcAft>
              <a:buSzPct val="100000"/>
              <a:buChar char="•"/>
            </a:pPr>
            <a:r>
              <a:rPr lang="en-US" sz="1400" dirty="0">
                <a:solidFill>
                  <a:srgbClr val="1F1B2E"/>
                </a:solidFill>
              </a:rPr>
              <a:t>Batch the scoring to cut memory</a:t>
            </a:r>
            <a:endParaRPr lang="en-US" sz="1400" dirty="0"/>
          </a:p>
          <a:p>
            <a:pPr marL="342900" indent="-342900">
              <a:spcAft>
                <a:spcPts val="600"/>
              </a:spcAft>
              <a:buSzPct val="100000"/>
              <a:buChar char="•"/>
            </a:pPr>
            <a:r>
              <a:rPr lang="en-US" sz="1400" dirty="0">
                <a:solidFill>
                  <a:srgbClr val="1F1B2E"/>
                </a:solidFill>
              </a:rPr>
              <a:t>Show best sellers to new customers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80"/>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GiftLane">
  <a:themeElements>
    <a:clrScheme name="GiftLane">
      <a:dk1>
        <a:srgbClr val="1F1B2E"/>
      </a:dk1>
      <a:lt1>
        <a:srgbClr val="FFFFFF"/>
      </a:lt1>
      <a:dk2>
        <a:srgbClr val="2E1A47"/>
      </a:dk2>
      <a:lt2>
        <a:srgbClr val="F3EFF8"/>
      </a:lt2>
      <a:accent1>
        <a:srgbClr val="E8574A"/>
      </a:accent1>
      <a:accent2>
        <a:srgbClr val="1B998B"/>
      </a:accent2>
      <a:accent3>
        <a:srgbClr val="2E1A47"/>
      </a:accent3>
      <a:accent4>
        <a:srgbClr val="8A7FA0"/>
      </a:accent4>
      <a:accent5>
        <a:srgbClr val="F2B84B"/>
      </a:accent5>
      <a:accent6>
        <a:srgbClr val="6B6B80"/>
      </a:accent6>
      <a:hlink>
        <a:srgbClr val="1B998B"/>
      </a:hlink>
      <a:folHlink>
        <a:srgbClr val="8A7FA0"/>
      </a:folHlink>
    </a:clrScheme>
    <a:fontScheme name="GiftLa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Customers Like You</dc:title>
  <dc:subject>PptxGenJS Presentation</dc:subject>
  <dc:creator>Jagadeesh Aravind Kalyan Shetti</dc:creator>
  <cp:lastModifiedBy>Jagadeesh Aravind Kalyan Shetti</cp:lastModifiedBy>
  <cp:revision>1</cp:revision>
  <dcterms:created xsi:type="dcterms:W3CDTF">2026-10-13T22:54:48Z</dcterms:created>
  <dcterms:modified xsi:type="dcterms:W3CDTF">2026-10-13T22:54:48Z</dcterms:modified>
</cp:coreProperties>
</file>